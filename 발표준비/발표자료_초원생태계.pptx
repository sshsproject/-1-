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8" r:id="rId3"/>
    <p:sldId id="260" r:id="rId4"/>
    <p:sldId id="262" r:id="rId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85" d="100"/>
          <a:sy n="185" d="100"/>
        </p:scale>
        <p:origin x="4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750896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조 이름과 주제를 소개하고 바로 개요로 넘어간다.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[클래스 다이어그램 대본 · 약 1분 5초 — 심성진 파트(부모 클래스·월드) 대체, 첫 발표자가 낭독]
파트 설명에 앞서 전체 클래스 구조를 소개하겠습니다. 저희 코드의 모든 구성원은 하나의 상속 트리 위에 있습니다. 최상위에는 추상 클래스 Entity가 있어 위치, 생존 여부, 그리고 매 틱 호출되는 update라는 공통 인터페이스를 정의합니다. 덕분에 물리엔진과 화면이 동물이든 식물이든 트랙터든 똑같은 방식으로 다룰 수 있습니다. 그 아래 Animal은 속도, 체력, 공격력, 회복력, 허기라는 공통 속성과 함께 '템플릿 메서드 패턴'을 구현합니다. update가 타이머 감소, 허기 증가, 행동 결정, 이동, 죽음 판정이라는 공통 흐름을 고정하고, 종마다 다른 행동은 추상 메서드 act 하나에만 맡기는 구조라서, 새로운 동물을 추가할 때는 act만 구현하면 됩니다. Animal 아래는 번식 게이지와 reproduce를 가진 초식동물 Herbivore, 기력과 attack을 가진 육식동물 Carnivore로 갈라지고, 그 아래 토끼, 기린, 얼룩말, 코끼리, 사자, 치타, 하이에나 일곱 종이 각자 고유 능력 메서드 하나씩을 더합니다. 식물은 Plant 아래 풀과 나무가 있는데, 풀은 먹이이자 토끼의 은신처, 나무는 모든 번식이 일어나는 만남의 장소입니다. 이렇게 '공통은 위로, 차이는 아래로' 보내는 상속 설계 덕분에 네 명이 코드 중복 없이 분업할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약 1분 25초]
안녕하세요, 물리엔진과 화면, 프로그램의 시작과 끝을 맡은 홍순율입니다. 저희는 외부 라이브러리 없이 100% 파이썬 표준 라이브러리로 만들었기 때문에 물리엔진도 직접 구현했습니다. vector.py의 2차원 벡터 클래스에 연산자 오버로딩을 적용해 물리 공식을 '위치 더하기 속도 곱하기 시간'처럼 수식 그대로 쓸 수 있게 했고, physics.py는 '결정과 실행의 분리'가 핵심입니다. seek, flee 같은 조향 함수가 어디로 갈지 속도만 정하면 integrate가 오일러 적분으로 위치에 반영하고, 충돌은 모든 개체를 원으로 보고 제곱거리 비교로 빠르게 판정합니다. 화면도 제가 만들었습니다. gui.py는 tkinter만으로, while 루프 대신 after 예약 방식의 게임 루프를 써서 매 프레임 월드를 한 틱 진행하고 다시 그립니다. 체력바, 기절 표시, 개체 수 통계, 생태계 일지로 변화가 한눈에 보이고, 한글 입력 상태에서 키가 안 먹는 문제까지 처리했습니다. 마지막 disaster.py의 트랙터 재난은, D키를 누르면 트랙터 무리가 초원 전체 높이를 덮도록 계산되어 등장해 화면을 가로지르며 모든 생물을 밀어버리는 종료 조건입니다. 종료를 스위치가 아니라 시간의 흐름으로 관찰되는 사건으로 만든 것이 포인트입니다.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약 1분 20초]
초식동물과 식물을 맡은 한시헌입니다. 모든 초식동물이 상속받는 Herbivore 부모 클래스에 공통 생존 흐름을 구현했습니다. 포식자가 가까우면 도망가고, 배고프면 풀을 찾고, 번식 준비가 되면 나무로 모이는 순서입니다. 제가 가장 공들인 부분은 번식터 분산 알고리즘입니다. 처음에는 모든 동물이 가장 가까운 나무 한곳에 몰려 화면이 겹쳐 보였는데, 가까운 나무 몇 개 중 덜 붐비는 곳을 고르고, 나무 중심이 아니라 둘레의 자기 자리로 가게 해서 번식 조건은 유지하면서 군집 문제를 해결했습니다. 번식 메서드는 type(self)로 자기와 같은 종을 생성하기 때문에 토끼는 토끼를, 기린은 기린을 낳고, 자식 클래스마다 번식 코드를 다시 쓸 필요가 없습니다. 토끼는 위험하면 근처 풀숲에 숨는 hide 능력이 있는데, 숨는 동안 포식자에게 보이지 않고, 풀 하나에 숨을 수 있는 토끼 수에 한계를 둬 현실성을 살렸습니다. 기린은 넥스윙으로 포식자를 밀쳐내며 피해를 주는데, 같은 메서드가 기린끼리의 싸움에도 재사용됩니다. 식물 쪽에서는 풀이 be_eaten 메서드로 자기 먹이량을 스스로 관리하고 다 뜯기면 120틱 뒤 다시 자라며, 나무는 모든 번식이 일어나는 만남의 장소가 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D1F"/>
        </a:solidFill>
        <a:effectLst/>
      </p:bgPr>
    </p:bg>
    <p:spTree>
      <p:nvGrpSpPr>
        <p:cNvPr id="1" name=""/>
        <p:cNvGrpSpPr/>
        <p:nvPr/>
      </p:nvGrpSpPr>
      <p:grpSpPr>
        <a:xfrm>
          <a:off x="0" y="0"/>
          <a:ext cx="0" cy="0"/>
          <a:chOff x="0" y="0"/>
          <a:chExt cx="0" cy="0"/>
        </a:xfrm>
      </p:grpSpPr>
      <p:sp>
        <p:nvSpPr>
          <p:cNvPr id="2" name="Shape 0"/>
          <p:cNvSpPr/>
          <p:nvPr/>
        </p:nvSpPr>
        <p:spPr>
          <a:xfrm>
            <a:off x="0" y="4160520"/>
            <a:ext cx="9144000" cy="982980"/>
          </a:xfrm>
          <a:prstGeom prst="rect">
            <a:avLst/>
          </a:prstGeom>
          <a:solidFill>
            <a:srgbClr val="2C5F2D"/>
          </a:solidFill>
          <a:ln/>
        </p:spPr>
        <p:txBody>
          <a:bodyPr/>
          <a:lstStyle/>
          <a:p>
            <a:endParaRPr lang="ko-KR" altLang="en-US"/>
          </a:p>
        </p:txBody>
      </p:sp>
      <p:sp>
        <p:nvSpPr>
          <p:cNvPr id="3" name="Text 1"/>
          <p:cNvSpPr/>
          <p:nvPr/>
        </p:nvSpPr>
        <p:spPr>
          <a:xfrm>
            <a:off x="457200" y="685800"/>
            <a:ext cx="8229600" cy="548640"/>
          </a:xfrm>
          <a:prstGeom prst="rect">
            <a:avLst/>
          </a:prstGeom>
          <a:noFill/>
          <a:ln/>
        </p:spPr>
        <p:txBody>
          <a:bodyPr wrap="square" rtlCol="0" anchor="ctr"/>
          <a:lstStyle/>
          <a:p>
            <a:pPr marL="0" indent="0" algn="ctr">
              <a:buNone/>
            </a:pPr>
            <a:r>
              <a:rPr lang="en-US" sz="2800" dirty="0">
                <a:solidFill>
                  <a:srgbClr val="000000"/>
                </a:solidFill>
                <a:latin typeface="Apple SD Gothic Neo" pitchFamily="34" charset="0"/>
                <a:ea typeface="Apple SD Gothic Neo" pitchFamily="34" charset="-122"/>
                <a:cs typeface="Apple SD Gothic Neo" pitchFamily="34" charset="-120"/>
              </a:rPr>
              <a:t>🦁 🦓 🦒 🐘 🌳</a:t>
            </a:r>
            <a:endParaRPr lang="en-US" sz="2800" dirty="0"/>
          </a:p>
        </p:txBody>
      </p:sp>
      <p:sp>
        <p:nvSpPr>
          <p:cNvPr id="4" name="Text 2"/>
          <p:cNvSpPr/>
          <p:nvPr/>
        </p:nvSpPr>
        <p:spPr>
          <a:xfrm>
            <a:off x="457200" y="1371600"/>
            <a:ext cx="8229600" cy="822960"/>
          </a:xfrm>
          <a:prstGeom prst="rect">
            <a:avLst/>
          </a:prstGeom>
          <a:noFill/>
          <a:ln/>
        </p:spPr>
        <p:txBody>
          <a:bodyPr wrap="square" rtlCol="0" anchor="ctr"/>
          <a:lstStyle/>
          <a:p>
            <a:pPr marL="0" indent="0" algn="ctr">
              <a:buNone/>
            </a:pPr>
            <a:r>
              <a:rPr lang="en-US" sz="4400" b="1" dirty="0">
                <a:solidFill>
                  <a:srgbClr val="FFFFFF"/>
                </a:solidFill>
                <a:latin typeface="Apple SD Gothic Neo" pitchFamily="34" charset="0"/>
                <a:ea typeface="Apple SD Gothic Neo" pitchFamily="34" charset="-122"/>
                <a:cs typeface="Apple SD Gothic Neo" pitchFamily="34" charset="-120"/>
              </a:rPr>
              <a:t>심심한 초원의 제왕</a:t>
            </a:r>
            <a:endParaRPr lang="en-US" sz="4400" dirty="0"/>
          </a:p>
        </p:txBody>
      </p:sp>
      <p:sp>
        <p:nvSpPr>
          <p:cNvPr id="5" name="Text 3"/>
          <p:cNvSpPr/>
          <p:nvPr/>
        </p:nvSpPr>
        <p:spPr>
          <a:xfrm>
            <a:off x="457200" y="2240280"/>
            <a:ext cx="8229600" cy="457200"/>
          </a:xfrm>
          <a:prstGeom prst="rect">
            <a:avLst/>
          </a:prstGeom>
          <a:noFill/>
          <a:ln/>
        </p:spPr>
        <p:txBody>
          <a:bodyPr wrap="square" rtlCol="0" anchor="ctr"/>
          <a:lstStyle/>
          <a:p>
            <a:pPr marL="0" indent="0" algn="ctr">
              <a:buNone/>
            </a:pPr>
            <a:r>
              <a:rPr lang="en-US" sz="2000" dirty="0">
                <a:solidFill>
                  <a:srgbClr val="C9DBA3"/>
                </a:solidFill>
                <a:latin typeface="Apple SD Gothic Neo" pitchFamily="34" charset="0"/>
                <a:ea typeface="Apple SD Gothic Neo" pitchFamily="34" charset="-122"/>
                <a:cs typeface="Apple SD Gothic Neo" pitchFamily="34" charset="-120"/>
              </a:rPr>
              <a:t>초원(Savanna) 생태계 시뮬레이션</a:t>
            </a:r>
            <a:endParaRPr lang="en-US" sz="2000" dirty="0"/>
          </a:p>
        </p:txBody>
      </p:sp>
      <p:sp>
        <p:nvSpPr>
          <p:cNvPr id="6" name="Text 4"/>
          <p:cNvSpPr/>
          <p:nvPr/>
        </p:nvSpPr>
        <p:spPr>
          <a:xfrm>
            <a:off x="457200" y="2880360"/>
            <a:ext cx="8229600" cy="365760"/>
          </a:xfrm>
          <a:prstGeom prst="rect">
            <a:avLst/>
          </a:prstGeom>
          <a:noFill/>
          <a:ln/>
        </p:spPr>
        <p:txBody>
          <a:bodyPr wrap="square" rtlCol="0" anchor="ctr"/>
          <a:lstStyle/>
          <a:p>
            <a:pPr marL="0" indent="0" algn="ctr">
              <a:buNone/>
            </a:pPr>
            <a:r>
              <a:rPr lang="en-US" sz="1400" dirty="0">
                <a:solidFill>
                  <a:srgbClr val="9FB58B"/>
                </a:solidFill>
                <a:latin typeface="Apple SD Gothic Neo" pitchFamily="34" charset="0"/>
                <a:ea typeface="Apple SD Gothic Neo" pitchFamily="34" charset="-122"/>
                <a:cs typeface="Apple SD Gothic Neo" pitchFamily="34" charset="-120"/>
              </a:rPr>
              <a:t>2026 컴퓨터과학1 프로젝트  ·  네이처 빌더</a:t>
            </a:r>
            <a:endParaRPr lang="en-US" sz="1400" dirty="0"/>
          </a:p>
        </p:txBody>
      </p:sp>
      <p:sp>
        <p:nvSpPr>
          <p:cNvPr id="7" name="Text 5"/>
          <p:cNvSpPr/>
          <p:nvPr/>
        </p:nvSpPr>
        <p:spPr>
          <a:xfrm>
            <a:off x="457200" y="4343400"/>
            <a:ext cx="8229600" cy="548640"/>
          </a:xfrm>
          <a:prstGeom prst="rect">
            <a:avLst/>
          </a:prstGeom>
          <a:noFill/>
          <a:ln/>
        </p:spPr>
        <p:txBody>
          <a:bodyPr wrap="square" rtlCol="0" anchor="ctr"/>
          <a:lstStyle/>
          <a:p>
            <a:pPr marL="0" indent="0" algn="ctr">
              <a:buNone/>
            </a:pPr>
            <a:r>
              <a:rPr lang="en-US" sz="1600" b="1" dirty="0">
                <a:solidFill>
                  <a:srgbClr val="FFFFFF"/>
                </a:solidFill>
                <a:latin typeface="Apple SD Gothic Neo" pitchFamily="34" charset="0"/>
                <a:ea typeface="Apple SD Gothic Neo" pitchFamily="34" charset="-122"/>
                <a:cs typeface="Apple SD Gothic Neo" pitchFamily="34" charset="-120"/>
              </a:rPr>
              <a:t>홍순율  ·  심성진  ·  심준서  ·  한시헌</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6F8F0"/>
        </a:solidFill>
        <a:effectLst/>
      </p:bgPr>
    </p:bg>
    <p:spTree>
      <p:nvGrpSpPr>
        <p:cNvPr id="1" name=""/>
        <p:cNvGrpSpPr/>
        <p:nvPr/>
      </p:nvGrpSpPr>
      <p:grpSpPr>
        <a:xfrm>
          <a:off x="0" y="0"/>
          <a:ext cx="0" cy="0"/>
          <a:chOff x="0" y="0"/>
          <a:chExt cx="0" cy="0"/>
        </a:xfrm>
      </p:grpSpPr>
      <p:sp>
        <p:nvSpPr>
          <p:cNvPr id="2" name="Text 0"/>
          <p:cNvSpPr/>
          <p:nvPr/>
        </p:nvSpPr>
        <p:spPr>
          <a:xfrm>
            <a:off x="457200" y="201168"/>
            <a:ext cx="8229600" cy="502920"/>
          </a:xfrm>
          <a:prstGeom prst="rect">
            <a:avLst/>
          </a:prstGeom>
          <a:noFill/>
          <a:ln/>
        </p:spPr>
        <p:txBody>
          <a:bodyPr wrap="square" lIns="0" tIns="0" rIns="0" bIns="0" rtlCol="0" anchor="ctr"/>
          <a:lstStyle/>
          <a:p>
            <a:pPr marL="0" indent="0">
              <a:buNone/>
            </a:pPr>
            <a:r>
              <a:rPr lang="en-US" sz="2600" b="1" dirty="0">
                <a:solidFill>
                  <a:srgbClr val="1E3D1F"/>
                </a:solidFill>
                <a:latin typeface="Apple SD Gothic Neo" pitchFamily="34" charset="0"/>
                <a:ea typeface="Apple SD Gothic Neo" pitchFamily="34" charset="-122"/>
                <a:cs typeface="Apple SD Gothic Neo" pitchFamily="34" charset="-120"/>
              </a:rPr>
              <a:t>클래스 다이어그램 — 상속 구조</a:t>
            </a:r>
            <a:endParaRPr lang="en-US" sz="2600" dirty="0"/>
          </a:p>
        </p:txBody>
      </p:sp>
      <p:sp>
        <p:nvSpPr>
          <p:cNvPr id="3" name="Shape 1"/>
          <p:cNvSpPr/>
          <p:nvPr/>
        </p:nvSpPr>
        <p:spPr>
          <a:xfrm>
            <a:off x="3703320" y="914400"/>
            <a:ext cx="1737360" cy="566928"/>
          </a:xfrm>
          <a:prstGeom prst="rect">
            <a:avLst/>
          </a:prstGeom>
          <a:solidFill>
            <a:srgbClr val="2C5F2D"/>
          </a:solidFill>
          <a:ln w="9525">
            <a:solidFill>
              <a:srgbClr val="1E3D1F"/>
            </a:solidFill>
            <a:prstDash val="solid"/>
          </a:ln>
        </p:spPr>
        <p:txBody>
          <a:bodyPr/>
          <a:lstStyle/>
          <a:p>
            <a:endParaRPr lang="ko-KR" altLang="en-US"/>
          </a:p>
        </p:txBody>
      </p:sp>
      <p:sp>
        <p:nvSpPr>
          <p:cNvPr id="4" name="Text 2"/>
          <p:cNvSpPr/>
          <p:nvPr/>
        </p:nvSpPr>
        <p:spPr>
          <a:xfrm>
            <a:off x="3703320" y="914400"/>
            <a:ext cx="1737360" cy="566928"/>
          </a:xfrm>
          <a:prstGeom prst="rect">
            <a:avLst/>
          </a:prstGeom>
          <a:noFill/>
          <a:ln/>
        </p:spPr>
        <p:txBody>
          <a:bodyPr wrap="square" lIns="254" tIns="254" rIns="254" bIns="254" rtlCol="0" anchor="ctr"/>
          <a:lstStyle/>
          <a:p>
            <a:pPr marL="0" indent="0" algn="ctr">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Entity (추상)</a:t>
            </a:r>
            <a:endParaRPr lang="en-US" sz="110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place · alive · update()*</a:t>
            </a:r>
            <a:endParaRPr lang="en-US" sz="1100" dirty="0"/>
          </a:p>
        </p:txBody>
      </p:sp>
      <p:sp>
        <p:nvSpPr>
          <p:cNvPr id="5" name="Shape 3"/>
          <p:cNvSpPr/>
          <p:nvPr/>
        </p:nvSpPr>
        <p:spPr>
          <a:xfrm>
            <a:off x="914400" y="914400"/>
            <a:ext cx="1600200" cy="566928"/>
          </a:xfrm>
          <a:prstGeom prst="rect">
            <a:avLst/>
          </a:prstGeom>
          <a:solidFill>
            <a:srgbClr val="44617B"/>
          </a:solidFill>
          <a:ln w="9525">
            <a:solidFill>
              <a:srgbClr val="1E3D1F"/>
            </a:solidFill>
            <a:prstDash val="solid"/>
          </a:ln>
        </p:spPr>
        <p:txBody>
          <a:bodyPr/>
          <a:lstStyle/>
          <a:p>
            <a:endParaRPr lang="ko-KR" altLang="en-US"/>
          </a:p>
        </p:txBody>
      </p:sp>
      <p:sp>
        <p:nvSpPr>
          <p:cNvPr id="6" name="Text 4"/>
          <p:cNvSpPr/>
          <p:nvPr/>
        </p:nvSpPr>
        <p:spPr>
          <a:xfrm>
            <a:off x="914400" y="914400"/>
            <a:ext cx="1600200" cy="566928"/>
          </a:xfrm>
          <a:prstGeom prst="rect">
            <a:avLst/>
          </a:prstGeom>
          <a:noFill/>
          <a:ln/>
        </p:spPr>
        <p:txBody>
          <a:bodyPr wrap="square" lIns="254" tIns="254" rIns="254" bIns="254" rtlCol="0" anchor="ctr"/>
          <a:lstStyle/>
          <a:p>
            <a:pPr marL="0" indent="0" algn="ctr">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Tractor 🚜</a:t>
            </a:r>
            <a:endParaRPr lang="en-US" sz="110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disaster.py · 재난</a:t>
            </a:r>
            <a:endParaRPr lang="en-US" sz="1100" dirty="0"/>
          </a:p>
        </p:txBody>
      </p:sp>
      <p:sp>
        <p:nvSpPr>
          <p:cNvPr id="7" name="Shape 5"/>
          <p:cNvSpPr/>
          <p:nvPr/>
        </p:nvSpPr>
        <p:spPr>
          <a:xfrm>
            <a:off x="2514600" y="1197864"/>
            <a:ext cx="1188720" cy="0"/>
          </a:xfrm>
          <a:prstGeom prst="line">
            <a:avLst/>
          </a:prstGeom>
          <a:noFill/>
          <a:ln w="15875">
            <a:solidFill>
              <a:srgbClr val="7A8F6A"/>
            </a:solidFill>
            <a:prstDash val="solid"/>
          </a:ln>
        </p:spPr>
        <p:txBody>
          <a:bodyPr/>
          <a:lstStyle/>
          <a:p>
            <a:endParaRPr lang="ko-KR" altLang="en-US"/>
          </a:p>
        </p:txBody>
      </p:sp>
      <p:sp>
        <p:nvSpPr>
          <p:cNvPr id="8" name="Shape 6"/>
          <p:cNvSpPr/>
          <p:nvPr/>
        </p:nvSpPr>
        <p:spPr>
          <a:xfrm>
            <a:off x="3017520" y="1847088"/>
            <a:ext cx="1920240" cy="603504"/>
          </a:xfrm>
          <a:prstGeom prst="rect">
            <a:avLst/>
          </a:prstGeom>
          <a:solidFill>
            <a:srgbClr val="2C5F2D"/>
          </a:solidFill>
          <a:ln w="9525">
            <a:solidFill>
              <a:srgbClr val="1E3D1F"/>
            </a:solidFill>
            <a:prstDash val="solid"/>
          </a:ln>
        </p:spPr>
        <p:txBody>
          <a:bodyPr/>
          <a:lstStyle/>
          <a:p>
            <a:endParaRPr lang="ko-KR" altLang="en-US"/>
          </a:p>
        </p:txBody>
      </p:sp>
      <p:sp>
        <p:nvSpPr>
          <p:cNvPr id="9" name="Text 7"/>
          <p:cNvSpPr/>
          <p:nvPr/>
        </p:nvSpPr>
        <p:spPr>
          <a:xfrm>
            <a:off x="3017520" y="1847088"/>
            <a:ext cx="1920240" cy="603504"/>
          </a:xfrm>
          <a:prstGeom prst="rect">
            <a:avLst/>
          </a:prstGeom>
          <a:noFill/>
          <a:ln/>
        </p:spPr>
        <p:txBody>
          <a:bodyPr wrap="square" lIns="254" tIns="254" rIns="254" bIns="254" rtlCol="0" anchor="ctr"/>
          <a:lstStyle/>
          <a:p>
            <a:pPr marL="0" indent="0" algn="ctr">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Animal (추상)</a:t>
            </a:r>
            <a:endParaRPr lang="en-US" sz="110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speed·hp·ap·rsp·hunger / move·eat·act()*</a:t>
            </a:r>
            <a:endParaRPr lang="en-US" sz="1100" dirty="0"/>
          </a:p>
        </p:txBody>
      </p:sp>
      <p:sp>
        <p:nvSpPr>
          <p:cNvPr id="10" name="Shape 8"/>
          <p:cNvSpPr/>
          <p:nvPr/>
        </p:nvSpPr>
        <p:spPr>
          <a:xfrm>
            <a:off x="7589520" y="1847088"/>
            <a:ext cx="1280160" cy="566928"/>
          </a:xfrm>
          <a:prstGeom prst="rect">
            <a:avLst/>
          </a:prstGeom>
          <a:solidFill>
            <a:srgbClr val="97BC62"/>
          </a:solidFill>
          <a:ln w="9525">
            <a:solidFill>
              <a:srgbClr val="1E3D1F"/>
            </a:solidFill>
            <a:prstDash val="solid"/>
          </a:ln>
        </p:spPr>
        <p:txBody>
          <a:bodyPr/>
          <a:lstStyle/>
          <a:p>
            <a:endParaRPr lang="ko-KR" altLang="en-US"/>
          </a:p>
        </p:txBody>
      </p:sp>
      <p:sp>
        <p:nvSpPr>
          <p:cNvPr id="11" name="Text 9"/>
          <p:cNvSpPr/>
          <p:nvPr/>
        </p:nvSpPr>
        <p:spPr>
          <a:xfrm>
            <a:off x="7589520" y="1847088"/>
            <a:ext cx="1280160" cy="566928"/>
          </a:xfrm>
          <a:prstGeom prst="rect">
            <a:avLst/>
          </a:prstGeom>
          <a:noFill/>
          <a:ln/>
        </p:spPr>
        <p:txBody>
          <a:bodyPr wrap="square" lIns="254" tIns="254" rIns="254" bIns="254" rtlCol="0" anchor="ctr"/>
          <a:lstStyle/>
          <a:p>
            <a:pPr marL="0" indent="0" algn="ctr">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Plant</a:t>
            </a:r>
            <a:endParaRPr lang="en-US" sz="1100" dirty="0"/>
          </a:p>
          <a:p>
            <a:pPr marL="0" indent="0" algn="ctr">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eaten / grow()</a:t>
            </a:r>
            <a:endParaRPr lang="en-US" sz="1100" dirty="0"/>
          </a:p>
        </p:txBody>
      </p:sp>
      <p:sp>
        <p:nvSpPr>
          <p:cNvPr id="12" name="Shape 10"/>
          <p:cNvSpPr/>
          <p:nvPr/>
        </p:nvSpPr>
        <p:spPr>
          <a:xfrm flipV="1">
            <a:off x="3977640" y="1481328"/>
            <a:ext cx="594360" cy="365760"/>
          </a:xfrm>
          <a:prstGeom prst="line">
            <a:avLst/>
          </a:prstGeom>
          <a:noFill/>
          <a:ln w="15875">
            <a:solidFill>
              <a:srgbClr val="7A8F6A"/>
            </a:solidFill>
            <a:prstDash val="solid"/>
          </a:ln>
        </p:spPr>
        <p:txBody>
          <a:bodyPr/>
          <a:lstStyle/>
          <a:p>
            <a:endParaRPr lang="ko-KR" altLang="en-US"/>
          </a:p>
        </p:txBody>
      </p:sp>
      <p:sp>
        <p:nvSpPr>
          <p:cNvPr id="13" name="Shape 11"/>
          <p:cNvSpPr/>
          <p:nvPr/>
        </p:nvSpPr>
        <p:spPr>
          <a:xfrm>
            <a:off x="4572000" y="1481328"/>
            <a:ext cx="3657600" cy="365760"/>
          </a:xfrm>
          <a:prstGeom prst="line">
            <a:avLst/>
          </a:prstGeom>
          <a:noFill/>
          <a:ln w="15875">
            <a:solidFill>
              <a:srgbClr val="7A8F6A"/>
            </a:solidFill>
            <a:prstDash val="solid"/>
          </a:ln>
        </p:spPr>
        <p:txBody>
          <a:bodyPr/>
          <a:lstStyle/>
          <a:p>
            <a:endParaRPr lang="ko-KR" altLang="en-US"/>
          </a:p>
        </p:txBody>
      </p:sp>
      <p:sp>
        <p:nvSpPr>
          <p:cNvPr id="14" name="Shape 12"/>
          <p:cNvSpPr/>
          <p:nvPr/>
        </p:nvSpPr>
        <p:spPr>
          <a:xfrm>
            <a:off x="1417320" y="2788920"/>
            <a:ext cx="1828800" cy="566928"/>
          </a:xfrm>
          <a:prstGeom prst="rect">
            <a:avLst/>
          </a:prstGeom>
          <a:solidFill>
            <a:srgbClr val="97BC62"/>
          </a:solidFill>
          <a:ln w="9525">
            <a:solidFill>
              <a:srgbClr val="1E3D1F"/>
            </a:solidFill>
            <a:prstDash val="solid"/>
          </a:ln>
        </p:spPr>
        <p:txBody>
          <a:bodyPr/>
          <a:lstStyle/>
          <a:p>
            <a:endParaRPr lang="ko-KR" altLang="en-US"/>
          </a:p>
        </p:txBody>
      </p:sp>
      <p:sp>
        <p:nvSpPr>
          <p:cNvPr id="15" name="Text 13"/>
          <p:cNvSpPr/>
          <p:nvPr/>
        </p:nvSpPr>
        <p:spPr>
          <a:xfrm>
            <a:off x="1417320" y="2788920"/>
            <a:ext cx="1828800" cy="566928"/>
          </a:xfrm>
          <a:prstGeom prst="rect">
            <a:avLst/>
          </a:prstGeom>
          <a:noFill/>
          <a:ln/>
        </p:spPr>
        <p:txBody>
          <a:bodyPr wrap="square" lIns="254" tIns="254" rIns="254" bIns="254" rtlCol="0" anchor="ctr"/>
          <a:lstStyle/>
          <a:p>
            <a:pPr marL="0" indent="0" algn="ctr">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Herbivore</a:t>
            </a:r>
            <a:endParaRPr lang="en-US" sz="1100" dirty="0"/>
          </a:p>
          <a:p>
            <a:pPr marL="0" indent="0" algn="ctr">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rp_rate / reproduce()</a:t>
            </a:r>
            <a:endParaRPr lang="en-US" sz="1100" dirty="0"/>
          </a:p>
        </p:txBody>
      </p:sp>
      <p:sp>
        <p:nvSpPr>
          <p:cNvPr id="16" name="Shape 14"/>
          <p:cNvSpPr/>
          <p:nvPr/>
        </p:nvSpPr>
        <p:spPr>
          <a:xfrm>
            <a:off x="4892040" y="2788920"/>
            <a:ext cx="1828800" cy="566928"/>
          </a:xfrm>
          <a:prstGeom prst="rect">
            <a:avLst/>
          </a:prstGeom>
          <a:solidFill>
            <a:srgbClr val="2C5F2D"/>
          </a:solidFill>
          <a:ln w="9525">
            <a:solidFill>
              <a:srgbClr val="1E3D1F"/>
            </a:solidFill>
            <a:prstDash val="solid"/>
          </a:ln>
        </p:spPr>
        <p:txBody>
          <a:bodyPr/>
          <a:lstStyle/>
          <a:p>
            <a:endParaRPr lang="ko-KR" altLang="en-US"/>
          </a:p>
        </p:txBody>
      </p:sp>
      <p:sp>
        <p:nvSpPr>
          <p:cNvPr id="17" name="Text 15"/>
          <p:cNvSpPr/>
          <p:nvPr/>
        </p:nvSpPr>
        <p:spPr>
          <a:xfrm>
            <a:off x="4892040" y="2788920"/>
            <a:ext cx="1828800" cy="566928"/>
          </a:xfrm>
          <a:prstGeom prst="rect">
            <a:avLst/>
          </a:prstGeom>
          <a:noFill/>
          <a:ln/>
        </p:spPr>
        <p:txBody>
          <a:bodyPr wrap="square" lIns="254" tIns="254" rIns="254" bIns="254" rtlCol="0" anchor="ctr"/>
          <a:lstStyle/>
          <a:p>
            <a:pPr marL="0" indent="0" algn="ctr">
              <a:lnSpc>
                <a:spcPct val="95000"/>
              </a:lnSpc>
              <a:buNone/>
            </a:pPr>
            <a:r>
              <a:rPr lang="en-US" sz="1100" b="1" dirty="0">
                <a:solidFill>
                  <a:srgbClr val="FFFFFF"/>
                </a:solidFill>
                <a:latin typeface="Apple SD Gothic Neo" pitchFamily="34" charset="0"/>
                <a:ea typeface="Apple SD Gothic Neo" pitchFamily="34" charset="-122"/>
                <a:cs typeface="Apple SD Gothic Neo" pitchFamily="34" charset="-120"/>
              </a:rPr>
              <a:t>Carnivore</a:t>
            </a:r>
            <a:endParaRPr lang="en-US" sz="110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energy / attack()</a:t>
            </a:r>
            <a:endParaRPr lang="en-US" sz="1100" dirty="0"/>
          </a:p>
        </p:txBody>
      </p:sp>
      <p:sp>
        <p:nvSpPr>
          <p:cNvPr id="18" name="Shape 16"/>
          <p:cNvSpPr/>
          <p:nvPr/>
        </p:nvSpPr>
        <p:spPr>
          <a:xfrm>
            <a:off x="7589520" y="2633472"/>
            <a:ext cx="1280160" cy="502920"/>
          </a:xfrm>
          <a:prstGeom prst="rect">
            <a:avLst/>
          </a:prstGeom>
          <a:solidFill>
            <a:srgbClr val="97BC62"/>
          </a:solidFill>
          <a:ln w="9525">
            <a:solidFill>
              <a:srgbClr val="1E3D1F"/>
            </a:solidFill>
            <a:prstDash val="solid"/>
          </a:ln>
        </p:spPr>
        <p:txBody>
          <a:bodyPr/>
          <a:lstStyle/>
          <a:p>
            <a:endParaRPr lang="ko-KR" altLang="en-US"/>
          </a:p>
        </p:txBody>
      </p:sp>
      <p:sp>
        <p:nvSpPr>
          <p:cNvPr id="19" name="Text 17"/>
          <p:cNvSpPr/>
          <p:nvPr/>
        </p:nvSpPr>
        <p:spPr>
          <a:xfrm>
            <a:off x="7589520" y="2633472"/>
            <a:ext cx="1280160" cy="502920"/>
          </a:xfrm>
          <a:prstGeom prst="rect">
            <a:avLst/>
          </a:prstGeom>
          <a:noFill/>
          <a:ln/>
        </p:spPr>
        <p:txBody>
          <a:bodyPr wrap="square" lIns="254" tIns="254" rIns="254" bIns="254" rtlCol="0" anchor="ctr"/>
          <a:lstStyle/>
          <a:p>
            <a:pPr marL="0" indent="0" algn="ctr">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Grass 🌿</a:t>
            </a:r>
            <a:endParaRPr lang="en-US" sz="1100" dirty="0"/>
          </a:p>
          <a:p>
            <a:pPr marL="0" indent="0" algn="ctr">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rab_num·be_eaten()</a:t>
            </a:r>
            <a:endParaRPr lang="en-US" sz="1100" dirty="0"/>
          </a:p>
        </p:txBody>
      </p:sp>
      <p:sp>
        <p:nvSpPr>
          <p:cNvPr id="20" name="Shape 18"/>
          <p:cNvSpPr/>
          <p:nvPr/>
        </p:nvSpPr>
        <p:spPr>
          <a:xfrm>
            <a:off x="7589520" y="3246120"/>
            <a:ext cx="1280160" cy="502920"/>
          </a:xfrm>
          <a:prstGeom prst="rect">
            <a:avLst/>
          </a:prstGeom>
          <a:solidFill>
            <a:srgbClr val="97BC62"/>
          </a:solidFill>
          <a:ln w="9525">
            <a:solidFill>
              <a:srgbClr val="1E3D1F"/>
            </a:solidFill>
            <a:prstDash val="solid"/>
          </a:ln>
        </p:spPr>
        <p:txBody>
          <a:bodyPr/>
          <a:lstStyle/>
          <a:p>
            <a:endParaRPr lang="ko-KR" altLang="en-US"/>
          </a:p>
        </p:txBody>
      </p:sp>
      <p:sp>
        <p:nvSpPr>
          <p:cNvPr id="21" name="Text 19"/>
          <p:cNvSpPr/>
          <p:nvPr/>
        </p:nvSpPr>
        <p:spPr>
          <a:xfrm>
            <a:off x="7589520" y="3246120"/>
            <a:ext cx="1280160" cy="502920"/>
          </a:xfrm>
          <a:prstGeom prst="rect">
            <a:avLst/>
          </a:prstGeom>
          <a:noFill/>
          <a:ln/>
        </p:spPr>
        <p:txBody>
          <a:bodyPr wrap="square" lIns="254" tIns="254" rIns="254" bIns="254" rtlCol="0" anchor="ctr"/>
          <a:lstStyle/>
          <a:p>
            <a:pPr marL="0" indent="0" algn="ctr">
              <a:lnSpc>
                <a:spcPct val="95000"/>
              </a:lnSpc>
              <a:buNone/>
            </a:pPr>
            <a:r>
              <a:rPr lang="en-US" sz="1100" b="1" dirty="0">
                <a:solidFill>
                  <a:srgbClr val="26331F"/>
                </a:solidFill>
                <a:latin typeface="Apple SD Gothic Neo" pitchFamily="34" charset="0"/>
                <a:ea typeface="Apple SD Gothic Neo" pitchFamily="34" charset="-122"/>
                <a:cs typeface="Apple SD Gothic Neo" pitchFamily="34" charset="-120"/>
              </a:rPr>
              <a:t>Tree 🌳</a:t>
            </a:r>
            <a:endParaRPr lang="en-US" sz="1100" dirty="0"/>
          </a:p>
          <a:p>
            <a:pPr marL="0" indent="0" algn="ctr">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BREED_RADIUS</a:t>
            </a:r>
            <a:endParaRPr lang="en-US" sz="1100" dirty="0"/>
          </a:p>
        </p:txBody>
      </p:sp>
      <p:sp>
        <p:nvSpPr>
          <p:cNvPr id="22" name="Shape 20"/>
          <p:cNvSpPr/>
          <p:nvPr/>
        </p:nvSpPr>
        <p:spPr>
          <a:xfrm flipV="1">
            <a:off x="2331720" y="2450592"/>
            <a:ext cx="1645920" cy="338328"/>
          </a:xfrm>
          <a:prstGeom prst="line">
            <a:avLst/>
          </a:prstGeom>
          <a:noFill/>
          <a:ln w="15875">
            <a:solidFill>
              <a:srgbClr val="7A8F6A"/>
            </a:solidFill>
            <a:prstDash val="solid"/>
          </a:ln>
        </p:spPr>
        <p:txBody>
          <a:bodyPr/>
          <a:lstStyle/>
          <a:p>
            <a:endParaRPr lang="ko-KR" altLang="en-US"/>
          </a:p>
        </p:txBody>
      </p:sp>
      <p:sp>
        <p:nvSpPr>
          <p:cNvPr id="23" name="Shape 21"/>
          <p:cNvSpPr/>
          <p:nvPr/>
        </p:nvSpPr>
        <p:spPr>
          <a:xfrm>
            <a:off x="3977640" y="2450592"/>
            <a:ext cx="1828800" cy="338328"/>
          </a:xfrm>
          <a:prstGeom prst="line">
            <a:avLst/>
          </a:prstGeom>
          <a:noFill/>
          <a:ln w="15875">
            <a:solidFill>
              <a:srgbClr val="7A8F6A"/>
            </a:solidFill>
            <a:prstDash val="solid"/>
          </a:ln>
        </p:spPr>
        <p:txBody>
          <a:bodyPr/>
          <a:lstStyle/>
          <a:p>
            <a:endParaRPr lang="ko-KR" altLang="en-US"/>
          </a:p>
        </p:txBody>
      </p:sp>
      <p:sp>
        <p:nvSpPr>
          <p:cNvPr id="24" name="Shape 22"/>
          <p:cNvSpPr/>
          <p:nvPr/>
        </p:nvSpPr>
        <p:spPr>
          <a:xfrm>
            <a:off x="8229600" y="2414016"/>
            <a:ext cx="0" cy="219456"/>
          </a:xfrm>
          <a:prstGeom prst="line">
            <a:avLst/>
          </a:prstGeom>
          <a:noFill/>
          <a:ln w="15875">
            <a:solidFill>
              <a:srgbClr val="7A8F6A"/>
            </a:solidFill>
            <a:prstDash val="solid"/>
          </a:ln>
        </p:spPr>
        <p:txBody>
          <a:bodyPr/>
          <a:lstStyle/>
          <a:p>
            <a:endParaRPr lang="ko-KR" altLang="en-US"/>
          </a:p>
        </p:txBody>
      </p:sp>
      <p:sp>
        <p:nvSpPr>
          <p:cNvPr id="25" name="Shape 23"/>
          <p:cNvSpPr/>
          <p:nvPr/>
        </p:nvSpPr>
        <p:spPr>
          <a:xfrm>
            <a:off x="8229600" y="3136392"/>
            <a:ext cx="0" cy="109728"/>
          </a:xfrm>
          <a:prstGeom prst="line">
            <a:avLst/>
          </a:prstGeom>
          <a:noFill/>
          <a:ln w="15875">
            <a:solidFill>
              <a:srgbClr val="7A8F6A"/>
            </a:solidFill>
            <a:prstDash val="solid"/>
          </a:ln>
        </p:spPr>
        <p:txBody>
          <a:bodyPr/>
          <a:lstStyle/>
          <a:p>
            <a:endParaRPr lang="ko-KR" altLang="en-US"/>
          </a:p>
        </p:txBody>
      </p:sp>
      <p:sp>
        <p:nvSpPr>
          <p:cNvPr id="26" name="Shape 24"/>
          <p:cNvSpPr/>
          <p:nvPr/>
        </p:nvSpPr>
        <p:spPr>
          <a:xfrm>
            <a:off x="274320" y="3794760"/>
            <a:ext cx="1024128" cy="713232"/>
          </a:xfrm>
          <a:prstGeom prst="rect">
            <a:avLst/>
          </a:prstGeom>
          <a:solidFill>
            <a:srgbClr val="97BC62"/>
          </a:solidFill>
          <a:ln w="9525">
            <a:solidFill>
              <a:srgbClr val="1E3D1F"/>
            </a:solidFill>
            <a:prstDash val="solid"/>
          </a:ln>
        </p:spPr>
        <p:txBody>
          <a:bodyPr/>
          <a:lstStyle/>
          <a:p>
            <a:endParaRPr lang="ko-KR" altLang="en-US"/>
          </a:p>
        </p:txBody>
      </p:sp>
      <p:sp>
        <p:nvSpPr>
          <p:cNvPr id="27" name="Text 25"/>
          <p:cNvSpPr/>
          <p:nvPr/>
        </p:nvSpPr>
        <p:spPr>
          <a:xfrm>
            <a:off x="274320" y="3794760"/>
            <a:ext cx="1024128" cy="713232"/>
          </a:xfrm>
          <a:prstGeom prst="rect">
            <a:avLst/>
          </a:prstGeom>
          <a:noFill/>
          <a:ln/>
        </p:spPr>
        <p:txBody>
          <a:bodyPr wrap="square" lIns="254" tIns="254" rIns="254" bIns="254" rtlCol="0" anchor="ctr"/>
          <a:lstStyle/>
          <a:p>
            <a:pPr marL="0" indent="0" algn="ctr">
              <a:lnSpc>
                <a:spcPct val="95000"/>
              </a:lnSpc>
              <a:buNone/>
            </a:pPr>
            <a:r>
              <a:rPr lang="en-US" sz="950" b="1" dirty="0">
                <a:solidFill>
                  <a:srgbClr val="26331F"/>
                </a:solidFill>
                <a:latin typeface="Apple SD Gothic Neo" pitchFamily="34" charset="0"/>
                <a:ea typeface="Apple SD Gothic Neo" pitchFamily="34" charset="-122"/>
                <a:cs typeface="Apple SD Gothic Neo" pitchFamily="34" charset="-120"/>
              </a:rPr>
              <a:t>🐇 Rabbit</a:t>
            </a:r>
            <a:endParaRPr lang="en-US" sz="950" dirty="0"/>
          </a:p>
          <a:p>
            <a:pPr marL="0" indent="0" algn="ctr">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hide()</a:t>
            </a:r>
            <a:endParaRPr lang="en-US" sz="950" dirty="0"/>
          </a:p>
        </p:txBody>
      </p:sp>
      <p:sp>
        <p:nvSpPr>
          <p:cNvPr id="28" name="Shape 26"/>
          <p:cNvSpPr/>
          <p:nvPr/>
        </p:nvSpPr>
        <p:spPr>
          <a:xfrm flipV="1">
            <a:off x="786384" y="3355848"/>
            <a:ext cx="1545336" cy="438912"/>
          </a:xfrm>
          <a:prstGeom prst="line">
            <a:avLst/>
          </a:prstGeom>
          <a:noFill/>
          <a:ln w="15875">
            <a:solidFill>
              <a:srgbClr val="7A8F6A"/>
            </a:solidFill>
            <a:prstDash val="solid"/>
          </a:ln>
        </p:spPr>
        <p:txBody>
          <a:bodyPr/>
          <a:lstStyle/>
          <a:p>
            <a:endParaRPr lang="ko-KR" altLang="en-US"/>
          </a:p>
        </p:txBody>
      </p:sp>
      <p:sp>
        <p:nvSpPr>
          <p:cNvPr id="29" name="Shape 27"/>
          <p:cNvSpPr/>
          <p:nvPr/>
        </p:nvSpPr>
        <p:spPr>
          <a:xfrm>
            <a:off x="1371600" y="3794760"/>
            <a:ext cx="1024128" cy="713232"/>
          </a:xfrm>
          <a:prstGeom prst="rect">
            <a:avLst/>
          </a:prstGeom>
          <a:solidFill>
            <a:srgbClr val="97BC62"/>
          </a:solidFill>
          <a:ln w="9525">
            <a:solidFill>
              <a:srgbClr val="1E3D1F"/>
            </a:solidFill>
            <a:prstDash val="solid"/>
          </a:ln>
        </p:spPr>
        <p:txBody>
          <a:bodyPr/>
          <a:lstStyle/>
          <a:p>
            <a:endParaRPr lang="ko-KR" altLang="en-US"/>
          </a:p>
        </p:txBody>
      </p:sp>
      <p:sp>
        <p:nvSpPr>
          <p:cNvPr id="30" name="Text 28"/>
          <p:cNvSpPr/>
          <p:nvPr/>
        </p:nvSpPr>
        <p:spPr>
          <a:xfrm>
            <a:off x="1371600" y="3794760"/>
            <a:ext cx="1024128" cy="713232"/>
          </a:xfrm>
          <a:prstGeom prst="rect">
            <a:avLst/>
          </a:prstGeom>
          <a:noFill/>
          <a:ln/>
        </p:spPr>
        <p:txBody>
          <a:bodyPr wrap="square" lIns="254" tIns="254" rIns="254" bIns="254" rtlCol="0" anchor="ctr"/>
          <a:lstStyle/>
          <a:p>
            <a:pPr marL="0" indent="0" algn="ctr">
              <a:lnSpc>
                <a:spcPct val="95000"/>
              </a:lnSpc>
              <a:buNone/>
            </a:pPr>
            <a:r>
              <a:rPr lang="en-US" sz="950" b="1" dirty="0">
                <a:solidFill>
                  <a:srgbClr val="26331F"/>
                </a:solidFill>
                <a:latin typeface="Apple SD Gothic Neo" pitchFamily="34" charset="0"/>
                <a:ea typeface="Apple SD Gothic Neo" pitchFamily="34" charset="-122"/>
                <a:cs typeface="Apple SD Gothic Neo" pitchFamily="34" charset="-120"/>
              </a:rPr>
              <a:t>🦒 Giraffe</a:t>
            </a:r>
            <a:endParaRPr lang="en-US" sz="950" dirty="0"/>
          </a:p>
          <a:p>
            <a:pPr marL="0" indent="0" algn="ctr">
              <a:lnSpc>
                <a:spcPct val="95000"/>
              </a:lnSpc>
              <a:buNone/>
            </a:pPr>
            <a:r>
              <a:rPr lang="en-US" sz="750" dirty="0">
                <a:solidFill>
                  <a:srgbClr val="26331F"/>
                </a:solidFill>
                <a:latin typeface="Apple SD Gothic Neo" pitchFamily="34" charset="0"/>
                <a:ea typeface="Apple SD Gothic Neo" pitchFamily="34" charset="-122"/>
                <a:cs typeface="Apple SD Gothic Neo" pitchFamily="34" charset="-120"/>
              </a:rPr>
              <a:t>neckfight()</a:t>
            </a:r>
            <a:endParaRPr lang="en-US" sz="950" dirty="0"/>
          </a:p>
        </p:txBody>
      </p:sp>
      <p:sp>
        <p:nvSpPr>
          <p:cNvPr id="31" name="Shape 29"/>
          <p:cNvSpPr/>
          <p:nvPr/>
        </p:nvSpPr>
        <p:spPr>
          <a:xfrm flipV="1">
            <a:off x="1883664" y="3355848"/>
            <a:ext cx="448056" cy="438912"/>
          </a:xfrm>
          <a:prstGeom prst="line">
            <a:avLst/>
          </a:prstGeom>
          <a:noFill/>
          <a:ln w="15875">
            <a:solidFill>
              <a:srgbClr val="7A8F6A"/>
            </a:solidFill>
            <a:prstDash val="solid"/>
          </a:ln>
        </p:spPr>
        <p:txBody>
          <a:bodyPr/>
          <a:lstStyle/>
          <a:p>
            <a:endParaRPr lang="ko-KR" altLang="en-US"/>
          </a:p>
        </p:txBody>
      </p:sp>
      <p:sp>
        <p:nvSpPr>
          <p:cNvPr id="32" name="Shape 30"/>
          <p:cNvSpPr/>
          <p:nvPr/>
        </p:nvSpPr>
        <p:spPr>
          <a:xfrm>
            <a:off x="2468880" y="3794760"/>
            <a:ext cx="1024128" cy="713232"/>
          </a:xfrm>
          <a:prstGeom prst="rect">
            <a:avLst/>
          </a:prstGeom>
          <a:solidFill>
            <a:srgbClr val="2C5F2D"/>
          </a:solidFill>
          <a:ln w="9525">
            <a:solidFill>
              <a:srgbClr val="1E3D1F"/>
            </a:solidFill>
            <a:prstDash val="solid"/>
          </a:ln>
        </p:spPr>
        <p:txBody>
          <a:bodyPr/>
          <a:lstStyle/>
          <a:p>
            <a:endParaRPr lang="ko-KR" altLang="en-US"/>
          </a:p>
        </p:txBody>
      </p:sp>
      <p:sp>
        <p:nvSpPr>
          <p:cNvPr id="33" name="Text 31"/>
          <p:cNvSpPr/>
          <p:nvPr/>
        </p:nvSpPr>
        <p:spPr>
          <a:xfrm>
            <a:off x="2468880" y="3794760"/>
            <a:ext cx="1024128" cy="713232"/>
          </a:xfrm>
          <a:prstGeom prst="rect">
            <a:avLst/>
          </a:prstGeom>
          <a:noFill/>
          <a:ln/>
        </p:spPr>
        <p:txBody>
          <a:bodyPr wrap="square" lIns="254" tIns="254" rIns="254" bIns="254" rtlCol="0" anchor="ctr"/>
          <a:lstStyle/>
          <a:p>
            <a:pPr marL="0" indent="0" algn="ctr">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Zebra</a:t>
            </a:r>
            <a:endParaRPr lang="en-US" sz="95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distract()</a:t>
            </a:r>
            <a:endParaRPr lang="en-US" sz="950" dirty="0"/>
          </a:p>
        </p:txBody>
      </p:sp>
      <p:sp>
        <p:nvSpPr>
          <p:cNvPr id="34" name="Shape 32"/>
          <p:cNvSpPr/>
          <p:nvPr/>
        </p:nvSpPr>
        <p:spPr>
          <a:xfrm>
            <a:off x="2331720" y="3355848"/>
            <a:ext cx="649224" cy="438912"/>
          </a:xfrm>
          <a:prstGeom prst="line">
            <a:avLst/>
          </a:prstGeom>
          <a:noFill/>
          <a:ln w="15875">
            <a:solidFill>
              <a:srgbClr val="7A8F6A"/>
            </a:solidFill>
            <a:prstDash val="solid"/>
          </a:ln>
        </p:spPr>
        <p:txBody>
          <a:bodyPr/>
          <a:lstStyle/>
          <a:p>
            <a:endParaRPr lang="ko-KR" altLang="en-US"/>
          </a:p>
        </p:txBody>
      </p:sp>
      <p:sp>
        <p:nvSpPr>
          <p:cNvPr id="35" name="Shape 33"/>
          <p:cNvSpPr/>
          <p:nvPr/>
        </p:nvSpPr>
        <p:spPr>
          <a:xfrm>
            <a:off x="3566160" y="3794760"/>
            <a:ext cx="1024128" cy="713232"/>
          </a:xfrm>
          <a:prstGeom prst="rect">
            <a:avLst/>
          </a:prstGeom>
          <a:solidFill>
            <a:srgbClr val="2C5F2D"/>
          </a:solidFill>
          <a:ln w="9525">
            <a:solidFill>
              <a:srgbClr val="1E3D1F"/>
            </a:solidFill>
            <a:prstDash val="solid"/>
          </a:ln>
        </p:spPr>
        <p:txBody>
          <a:bodyPr/>
          <a:lstStyle/>
          <a:p>
            <a:endParaRPr lang="ko-KR" altLang="en-US"/>
          </a:p>
        </p:txBody>
      </p:sp>
      <p:sp>
        <p:nvSpPr>
          <p:cNvPr id="36" name="Text 34"/>
          <p:cNvSpPr/>
          <p:nvPr/>
        </p:nvSpPr>
        <p:spPr>
          <a:xfrm>
            <a:off x="3566160" y="3794760"/>
            <a:ext cx="1024128" cy="713232"/>
          </a:xfrm>
          <a:prstGeom prst="rect">
            <a:avLst/>
          </a:prstGeom>
          <a:noFill/>
          <a:ln/>
        </p:spPr>
        <p:txBody>
          <a:bodyPr wrap="square" lIns="254" tIns="254" rIns="254" bIns="254" rtlCol="0" anchor="ctr"/>
          <a:lstStyle/>
          <a:p>
            <a:pPr marL="0" indent="0" algn="ctr">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Elephant</a:t>
            </a:r>
            <a:endParaRPr lang="en-US" sz="95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stomp()·tree()</a:t>
            </a:r>
            <a:endParaRPr lang="en-US" sz="950" dirty="0"/>
          </a:p>
        </p:txBody>
      </p:sp>
      <p:sp>
        <p:nvSpPr>
          <p:cNvPr id="37" name="Shape 35"/>
          <p:cNvSpPr/>
          <p:nvPr/>
        </p:nvSpPr>
        <p:spPr>
          <a:xfrm>
            <a:off x="2331720" y="3355848"/>
            <a:ext cx="1746504" cy="438912"/>
          </a:xfrm>
          <a:prstGeom prst="line">
            <a:avLst/>
          </a:prstGeom>
          <a:noFill/>
          <a:ln w="15875">
            <a:solidFill>
              <a:srgbClr val="7A8F6A"/>
            </a:solidFill>
            <a:prstDash val="solid"/>
          </a:ln>
        </p:spPr>
        <p:txBody>
          <a:bodyPr/>
          <a:lstStyle/>
          <a:p>
            <a:endParaRPr lang="ko-KR" altLang="en-US"/>
          </a:p>
        </p:txBody>
      </p:sp>
      <p:sp>
        <p:nvSpPr>
          <p:cNvPr id="38" name="Shape 36"/>
          <p:cNvSpPr/>
          <p:nvPr/>
        </p:nvSpPr>
        <p:spPr>
          <a:xfrm>
            <a:off x="4892040" y="3794760"/>
            <a:ext cx="1024128" cy="713232"/>
          </a:xfrm>
          <a:prstGeom prst="rect">
            <a:avLst/>
          </a:prstGeom>
          <a:solidFill>
            <a:srgbClr val="E07A2F"/>
          </a:solidFill>
          <a:ln w="9525">
            <a:solidFill>
              <a:srgbClr val="1E3D1F"/>
            </a:solidFill>
            <a:prstDash val="solid"/>
          </a:ln>
        </p:spPr>
        <p:txBody>
          <a:bodyPr/>
          <a:lstStyle/>
          <a:p>
            <a:endParaRPr lang="ko-KR" altLang="en-US"/>
          </a:p>
        </p:txBody>
      </p:sp>
      <p:sp>
        <p:nvSpPr>
          <p:cNvPr id="39" name="Text 37"/>
          <p:cNvSpPr/>
          <p:nvPr/>
        </p:nvSpPr>
        <p:spPr>
          <a:xfrm>
            <a:off x="4892040" y="3794760"/>
            <a:ext cx="1024128" cy="713232"/>
          </a:xfrm>
          <a:prstGeom prst="rect">
            <a:avLst/>
          </a:prstGeom>
          <a:noFill/>
          <a:ln/>
        </p:spPr>
        <p:txBody>
          <a:bodyPr wrap="square" lIns="254" tIns="254" rIns="254" bIns="254" rtlCol="0" anchor="ctr"/>
          <a:lstStyle/>
          <a:p>
            <a:pPr marL="0" indent="0" algn="ctr">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Lion</a:t>
            </a:r>
            <a:endParaRPr lang="en-US" sz="95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roar()</a:t>
            </a:r>
            <a:endParaRPr lang="en-US" sz="950" dirty="0"/>
          </a:p>
        </p:txBody>
      </p:sp>
      <p:sp>
        <p:nvSpPr>
          <p:cNvPr id="40" name="Shape 38"/>
          <p:cNvSpPr/>
          <p:nvPr/>
        </p:nvSpPr>
        <p:spPr>
          <a:xfrm flipV="1">
            <a:off x="5404104" y="3355848"/>
            <a:ext cx="402336" cy="438912"/>
          </a:xfrm>
          <a:prstGeom prst="line">
            <a:avLst/>
          </a:prstGeom>
          <a:noFill/>
          <a:ln w="15875">
            <a:solidFill>
              <a:srgbClr val="7A8F6A"/>
            </a:solidFill>
            <a:prstDash val="solid"/>
          </a:ln>
        </p:spPr>
        <p:txBody>
          <a:bodyPr/>
          <a:lstStyle/>
          <a:p>
            <a:endParaRPr lang="ko-KR" altLang="en-US"/>
          </a:p>
        </p:txBody>
      </p:sp>
      <p:sp>
        <p:nvSpPr>
          <p:cNvPr id="41" name="Shape 39"/>
          <p:cNvSpPr/>
          <p:nvPr/>
        </p:nvSpPr>
        <p:spPr>
          <a:xfrm>
            <a:off x="5989320" y="3794760"/>
            <a:ext cx="1024128" cy="713232"/>
          </a:xfrm>
          <a:prstGeom prst="rect">
            <a:avLst/>
          </a:prstGeom>
          <a:solidFill>
            <a:srgbClr val="E07A2F"/>
          </a:solidFill>
          <a:ln w="9525">
            <a:solidFill>
              <a:srgbClr val="1E3D1F"/>
            </a:solidFill>
            <a:prstDash val="solid"/>
          </a:ln>
        </p:spPr>
        <p:txBody>
          <a:bodyPr/>
          <a:lstStyle/>
          <a:p>
            <a:endParaRPr lang="ko-KR" altLang="en-US"/>
          </a:p>
        </p:txBody>
      </p:sp>
      <p:sp>
        <p:nvSpPr>
          <p:cNvPr id="42" name="Text 40"/>
          <p:cNvSpPr/>
          <p:nvPr/>
        </p:nvSpPr>
        <p:spPr>
          <a:xfrm>
            <a:off x="5989320" y="3794760"/>
            <a:ext cx="1024128" cy="713232"/>
          </a:xfrm>
          <a:prstGeom prst="rect">
            <a:avLst/>
          </a:prstGeom>
          <a:noFill/>
          <a:ln/>
        </p:spPr>
        <p:txBody>
          <a:bodyPr wrap="square" lIns="254" tIns="254" rIns="254" bIns="254" rtlCol="0" anchor="ctr"/>
          <a:lstStyle/>
          <a:p>
            <a:pPr marL="0" indent="0" algn="ctr">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Cheetah</a:t>
            </a:r>
            <a:endParaRPr lang="en-US" sz="95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boost()</a:t>
            </a:r>
            <a:endParaRPr lang="en-US" sz="950" dirty="0"/>
          </a:p>
        </p:txBody>
      </p:sp>
      <p:sp>
        <p:nvSpPr>
          <p:cNvPr id="43" name="Shape 41"/>
          <p:cNvSpPr/>
          <p:nvPr/>
        </p:nvSpPr>
        <p:spPr>
          <a:xfrm>
            <a:off x="5806440" y="3355848"/>
            <a:ext cx="694944" cy="438912"/>
          </a:xfrm>
          <a:prstGeom prst="line">
            <a:avLst/>
          </a:prstGeom>
          <a:noFill/>
          <a:ln w="15875">
            <a:solidFill>
              <a:srgbClr val="7A8F6A"/>
            </a:solidFill>
            <a:prstDash val="solid"/>
          </a:ln>
        </p:spPr>
        <p:txBody>
          <a:bodyPr/>
          <a:lstStyle/>
          <a:p>
            <a:endParaRPr lang="ko-KR" altLang="en-US"/>
          </a:p>
        </p:txBody>
      </p:sp>
      <p:sp>
        <p:nvSpPr>
          <p:cNvPr id="44" name="Shape 42"/>
          <p:cNvSpPr/>
          <p:nvPr/>
        </p:nvSpPr>
        <p:spPr>
          <a:xfrm>
            <a:off x="7086600" y="3794760"/>
            <a:ext cx="1024128" cy="713232"/>
          </a:xfrm>
          <a:prstGeom prst="rect">
            <a:avLst/>
          </a:prstGeom>
          <a:solidFill>
            <a:srgbClr val="E07A2F"/>
          </a:solidFill>
          <a:ln w="9525">
            <a:solidFill>
              <a:srgbClr val="1E3D1F"/>
            </a:solidFill>
            <a:prstDash val="solid"/>
          </a:ln>
        </p:spPr>
        <p:txBody>
          <a:bodyPr/>
          <a:lstStyle/>
          <a:p>
            <a:endParaRPr lang="ko-KR" altLang="en-US"/>
          </a:p>
        </p:txBody>
      </p:sp>
      <p:sp>
        <p:nvSpPr>
          <p:cNvPr id="45" name="Text 43"/>
          <p:cNvSpPr/>
          <p:nvPr/>
        </p:nvSpPr>
        <p:spPr>
          <a:xfrm>
            <a:off x="7086600" y="3794760"/>
            <a:ext cx="1024128" cy="713232"/>
          </a:xfrm>
          <a:prstGeom prst="rect">
            <a:avLst/>
          </a:prstGeom>
          <a:noFill/>
          <a:ln/>
        </p:spPr>
        <p:txBody>
          <a:bodyPr wrap="square" lIns="254" tIns="254" rIns="254" bIns="254" rtlCol="0" anchor="ctr"/>
          <a:lstStyle/>
          <a:p>
            <a:pPr marL="0" indent="0" algn="ctr">
              <a:lnSpc>
                <a:spcPct val="95000"/>
              </a:lnSpc>
              <a:buNone/>
            </a:pPr>
            <a:r>
              <a:rPr lang="en-US" sz="950" b="1" dirty="0">
                <a:solidFill>
                  <a:srgbClr val="FFFFFF"/>
                </a:solidFill>
                <a:latin typeface="Apple SD Gothic Neo" pitchFamily="34" charset="0"/>
                <a:ea typeface="Apple SD Gothic Neo" pitchFamily="34" charset="-122"/>
                <a:cs typeface="Apple SD Gothic Neo" pitchFamily="34" charset="-120"/>
              </a:rPr>
              <a:t>🐺 Hyena</a:t>
            </a:r>
            <a:endParaRPr lang="en-US" sz="950" dirty="0"/>
          </a:p>
          <a:p>
            <a:pPr marL="0" indent="0" algn="ctr">
              <a:lnSpc>
                <a:spcPct val="95000"/>
              </a:lnSpc>
              <a:buNone/>
            </a:pPr>
            <a:r>
              <a:rPr lang="en-US" sz="750" dirty="0">
                <a:solidFill>
                  <a:srgbClr val="FFFFFF"/>
                </a:solidFill>
                <a:latin typeface="Apple SD Gothic Neo" pitchFamily="34" charset="0"/>
                <a:ea typeface="Apple SD Gothic Neo" pitchFamily="34" charset="-122"/>
                <a:cs typeface="Apple SD Gothic Neo" pitchFamily="34" charset="-120"/>
              </a:rPr>
              <a:t>steal()</a:t>
            </a:r>
            <a:endParaRPr lang="en-US" sz="950" dirty="0"/>
          </a:p>
        </p:txBody>
      </p:sp>
      <p:sp>
        <p:nvSpPr>
          <p:cNvPr id="46" name="Shape 44"/>
          <p:cNvSpPr/>
          <p:nvPr/>
        </p:nvSpPr>
        <p:spPr>
          <a:xfrm>
            <a:off x="5806440" y="3355848"/>
            <a:ext cx="1792224" cy="438912"/>
          </a:xfrm>
          <a:prstGeom prst="line">
            <a:avLst/>
          </a:prstGeom>
          <a:noFill/>
          <a:ln w="15875">
            <a:solidFill>
              <a:srgbClr val="7A8F6A"/>
            </a:solidFill>
            <a:prstDash val="solid"/>
          </a:ln>
        </p:spPr>
        <p:txBody>
          <a:bodyPr/>
          <a:lstStyle/>
          <a:p>
            <a:endParaRPr lang="ko-KR" altLang="en-US"/>
          </a:p>
        </p:txBody>
      </p:sp>
      <p:sp>
        <p:nvSpPr>
          <p:cNvPr id="47" name="Shape 45"/>
          <p:cNvSpPr/>
          <p:nvPr/>
        </p:nvSpPr>
        <p:spPr>
          <a:xfrm>
            <a:off x="502920" y="4773168"/>
            <a:ext cx="146304" cy="146304"/>
          </a:xfrm>
          <a:prstGeom prst="rect">
            <a:avLst/>
          </a:prstGeom>
          <a:solidFill>
            <a:srgbClr val="2C5F2D"/>
          </a:solidFill>
          <a:ln w="6350">
            <a:solidFill>
              <a:srgbClr val="1E3D1F"/>
            </a:solidFill>
            <a:prstDash val="solid"/>
          </a:ln>
        </p:spPr>
        <p:txBody>
          <a:bodyPr/>
          <a:lstStyle/>
          <a:p>
            <a:endParaRPr lang="ko-KR" altLang="en-US"/>
          </a:p>
        </p:txBody>
      </p:sp>
      <p:sp>
        <p:nvSpPr>
          <p:cNvPr id="48" name="Text 46"/>
          <p:cNvSpPr/>
          <p:nvPr/>
        </p:nvSpPr>
        <p:spPr>
          <a:xfrm>
            <a:off x="685800" y="4718304"/>
            <a:ext cx="777240" cy="256032"/>
          </a:xfrm>
          <a:prstGeom prst="rect">
            <a:avLst/>
          </a:prstGeom>
          <a:noFill/>
          <a:ln/>
        </p:spPr>
        <p:txBody>
          <a:bodyPr wrap="square" lIns="0" tIns="0" rIns="0" bIns="0" rtlCol="0" anchor="ctr"/>
          <a:lstStyle/>
          <a:p>
            <a:pPr marL="0" indent="0">
              <a:buNone/>
            </a:pPr>
            <a:r>
              <a:rPr lang="en-US" sz="950" dirty="0">
                <a:solidFill>
                  <a:srgbClr val="26331F"/>
                </a:solidFill>
                <a:latin typeface="Apple SD Gothic Neo" pitchFamily="34" charset="0"/>
                <a:ea typeface="Apple SD Gothic Neo" pitchFamily="34" charset="-122"/>
                <a:cs typeface="Apple SD Gothic Neo" pitchFamily="34" charset="-120"/>
              </a:rPr>
              <a:t>심성진</a:t>
            </a:r>
            <a:endParaRPr lang="en-US" sz="950" dirty="0"/>
          </a:p>
        </p:txBody>
      </p:sp>
      <p:sp>
        <p:nvSpPr>
          <p:cNvPr id="49" name="Shape 47"/>
          <p:cNvSpPr/>
          <p:nvPr/>
        </p:nvSpPr>
        <p:spPr>
          <a:xfrm>
            <a:off x="1463040" y="4773168"/>
            <a:ext cx="146304" cy="146304"/>
          </a:xfrm>
          <a:prstGeom prst="rect">
            <a:avLst/>
          </a:prstGeom>
          <a:solidFill>
            <a:srgbClr val="97BC62"/>
          </a:solidFill>
          <a:ln w="6350">
            <a:solidFill>
              <a:srgbClr val="1E3D1F"/>
            </a:solidFill>
            <a:prstDash val="solid"/>
          </a:ln>
        </p:spPr>
        <p:txBody>
          <a:bodyPr/>
          <a:lstStyle/>
          <a:p>
            <a:endParaRPr lang="ko-KR" altLang="en-US"/>
          </a:p>
        </p:txBody>
      </p:sp>
      <p:sp>
        <p:nvSpPr>
          <p:cNvPr id="50" name="Text 48"/>
          <p:cNvSpPr/>
          <p:nvPr/>
        </p:nvSpPr>
        <p:spPr>
          <a:xfrm>
            <a:off x="1645920" y="4718304"/>
            <a:ext cx="777240" cy="256032"/>
          </a:xfrm>
          <a:prstGeom prst="rect">
            <a:avLst/>
          </a:prstGeom>
          <a:noFill/>
          <a:ln/>
        </p:spPr>
        <p:txBody>
          <a:bodyPr wrap="square" lIns="0" tIns="0" rIns="0" bIns="0" rtlCol="0" anchor="ctr"/>
          <a:lstStyle/>
          <a:p>
            <a:pPr marL="0" indent="0">
              <a:buNone/>
            </a:pPr>
            <a:r>
              <a:rPr lang="en-US" sz="950" dirty="0">
                <a:solidFill>
                  <a:srgbClr val="26331F"/>
                </a:solidFill>
                <a:latin typeface="Apple SD Gothic Neo" pitchFamily="34" charset="0"/>
                <a:ea typeface="Apple SD Gothic Neo" pitchFamily="34" charset="-122"/>
                <a:cs typeface="Apple SD Gothic Neo" pitchFamily="34" charset="-120"/>
              </a:rPr>
              <a:t>한시헌</a:t>
            </a:r>
            <a:endParaRPr lang="en-US" sz="950" dirty="0"/>
          </a:p>
        </p:txBody>
      </p:sp>
      <p:sp>
        <p:nvSpPr>
          <p:cNvPr id="51" name="Shape 49"/>
          <p:cNvSpPr/>
          <p:nvPr/>
        </p:nvSpPr>
        <p:spPr>
          <a:xfrm>
            <a:off x="2423160" y="4773168"/>
            <a:ext cx="146304" cy="146304"/>
          </a:xfrm>
          <a:prstGeom prst="rect">
            <a:avLst/>
          </a:prstGeom>
          <a:solidFill>
            <a:srgbClr val="E07A2F"/>
          </a:solidFill>
          <a:ln w="6350">
            <a:solidFill>
              <a:srgbClr val="1E3D1F"/>
            </a:solidFill>
            <a:prstDash val="solid"/>
          </a:ln>
        </p:spPr>
        <p:txBody>
          <a:bodyPr/>
          <a:lstStyle/>
          <a:p>
            <a:endParaRPr lang="ko-KR" altLang="en-US"/>
          </a:p>
        </p:txBody>
      </p:sp>
      <p:sp>
        <p:nvSpPr>
          <p:cNvPr id="52" name="Text 50"/>
          <p:cNvSpPr/>
          <p:nvPr/>
        </p:nvSpPr>
        <p:spPr>
          <a:xfrm>
            <a:off x="2606040" y="4718304"/>
            <a:ext cx="777240" cy="256032"/>
          </a:xfrm>
          <a:prstGeom prst="rect">
            <a:avLst/>
          </a:prstGeom>
          <a:noFill/>
          <a:ln/>
        </p:spPr>
        <p:txBody>
          <a:bodyPr wrap="square" lIns="0" tIns="0" rIns="0" bIns="0" rtlCol="0" anchor="ctr"/>
          <a:lstStyle/>
          <a:p>
            <a:pPr marL="0" indent="0">
              <a:buNone/>
            </a:pPr>
            <a:r>
              <a:rPr lang="en-US" sz="950" dirty="0">
                <a:solidFill>
                  <a:srgbClr val="26331F"/>
                </a:solidFill>
                <a:latin typeface="Apple SD Gothic Neo" pitchFamily="34" charset="0"/>
                <a:ea typeface="Apple SD Gothic Neo" pitchFamily="34" charset="-122"/>
                <a:cs typeface="Apple SD Gothic Neo" pitchFamily="34" charset="-120"/>
              </a:rPr>
              <a:t>심준서</a:t>
            </a:r>
            <a:endParaRPr lang="en-US" sz="950" dirty="0"/>
          </a:p>
        </p:txBody>
      </p:sp>
      <p:sp>
        <p:nvSpPr>
          <p:cNvPr id="53" name="Shape 51"/>
          <p:cNvSpPr/>
          <p:nvPr/>
        </p:nvSpPr>
        <p:spPr>
          <a:xfrm>
            <a:off x="3383280" y="4773168"/>
            <a:ext cx="146304" cy="146304"/>
          </a:xfrm>
          <a:prstGeom prst="rect">
            <a:avLst/>
          </a:prstGeom>
          <a:solidFill>
            <a:srgbClr val="44617B"/>
          </a:solidFill>
          <a:ln w="6350">
            <a:solidFill>
              <a:srgbClr val="1E3D1F"/>
            </a:solidFill>
            <a:prstDash val="solid"/>
          </a:ln>
        </p:spPr>
        <p:txBody>
          <a:bodyPr/>
          <a:lstStyle/>
          <a:p>
            <a:endParaRPr lang="ko-KR" altLang="en-US"/>
          </a:p>
        </p:txBody>
      </p:sp>
      <p:sp>
        <p:nvSpPr>
          <p:cNvPr id="54" name="Text 52"/>
          <p:cNvSpPr/>
          <p:nvPr/>
        </p:nvSpPr>
        <p:spPr>
          <a:xfrm>
            <a:off x="3566160" y="4718304"/>
            <a:ext cx="777240" cy="256032"/>
          </a:xfrm>
          <a:prstGeom prst="rect">
            <a:avLst/>
          </a:prstGeom>
          <a:noFill/>
          <a:ln/>
        </p:spPr>
        <p:txBody>
          <a:bodyPr wrap="square" lIns="0" tIns="0" rIns="0" bIns="0" rtlCol="0" anchor="ctr"/>
          <a:lstStyle/>
          <a:p>
            <a:pPr marL="0" indent="0">
              <a:buNone/>
            </a:pPr>
            <a:r>
              <a:rPr lang="en-US" sz="950" dirty="0">
                <a:solidFill>
                  <a:srgbClr val="26331F"/>
                </a:solidFill>
                <a:latin typeface="Apple SD Gothic Neo" pitchFamily="34" charset="0"/>
                <a:ea typeface="Apple SD Gothic Neo" pitchFamily="34" charset="-122"/>
                <a:cs typeface="Apple SD Gothic Neo" pitchFamily="34" charset="-120"/>
              </a:rPr>
              <a:t>홍순율</a:t>
            </a:r>
            <a:endParaRPr lang="en-US" sz="950" dirty="0"/>
          </a:p>
        </p:txBody>
      </p:sp>
      <p:sp>
        <p:nvSpPr>
          <p:cNvPr id="55" name="Text 53"/>
          <p:cNvSpPr/>
          <p:nvPr/>
        </p:nvSpPr>
        <p:spPr>
          <a:xfrm>
            <a:off x="4434840" y="4718304"/>
            <a:ext cx="4297680" cy="292608"/>
          </a:xfrm>
          <a:prstGeom prst="rect">
            <a:avLst/>
          </a:prstGeom>
          <a:noFill/>
          <a:ln/>
        </p:spPr>
        <p:txBody>
          <a:bodyPr wrap="square" lIns="0" tIns="0" rIns="0" bIns="0" rtlCol="0" anchor="ctr"/>
          <a:lstStyle/>
          <a:p>
            <a:pPr marL="0" indent="0" algn="r">
              <a:buNone/>
            </a:pPr>
            <a:r>
              <a:rPr lang="en-US" sz="900" dirty="0">
                <a:solidFill>
                  <a:srgbClr val="5C6B52"/>
                </a:solidFill>
                <a:latin typeface="Apple SD Gothic Neo" pitchFamily="34" charset="0"/>
                <a:ea typeface="Apple SD Gothic Neo" pitchFamily="34" charset="-122"/>
                <a:cs typeface="Apple SD Gothic Neo" pitchFamily="34" charset="-120"/>
              </a:rPr>
              <a:t>색 = 담당 조원 · * = 추상 메서드 · 종별 행동은 act()만 구현(템플릿 메서드)</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6F8F0"/>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44617B"/>
          </a:solidFill>
          <a:ln/>
        </p:spPr>
        <p:txBody>
          <a:bodyPr/>
          <a:lstStyle/>
          <a:p>
            <a:endParaRPr lang="ko-KR" altLang="en-US"/>
          </a:p>
        </p:txBody>
      </p:sp>
      <p:sp>
        <p:nvSpPr>
          <p:cNvPr id="3" name="Text 1"/>
          <p:cNvSpPr/>
          <p:nvPr/>
        </p:nvSpPr>
        <p:spPr>
          <a:xfrm>
            <a:off x="457200" y="201168"/>
            <a:ext cx="8229600" cy="502920"/>
          </a:xfrm>
          <a:prstGeom prst="rect">
            <a:avLst/>
          </a:prstGeom>
          <a:noFill/>
          <a:ln/>
        </p:spPr>
        <p:txBody>
          <a:bodyPr wrap="square" lIns="0" tIns="0" rIns="0" bIns="0" rtlCol="0" anchor="ctr"/>
          <a:lstStyle/>
          <a:p>
            <a:pPr marL="0" indent="0">
              <a:buNone/>
            </a:pPr>
            <a:r>
              <a:rPr lang="en-US" sz="2600" b="1" dirty="0">
                <a:solidFill>
                  <a:srgbClr val="1E3D1F"/>
                </a:solidFill>
                <a:latin typeface="Apple SD Gothic Neo" pitchFamily="34" charset="0"/>
                <a:ea typeface="Apple SD Gothic Neo" pitchFamily="34" charset="-122"/>
                <a:cs typeface="Apple SD Gothic Neo" pitchFamily="34" charset="-120"/>
              </a:rPr>
              <a:t>① 홍순율 — 물리엔진과 화면, 그리고 시작과 끝</a:t>
            </a:r>
            <a:endParaRPr lang="en-US" sz="2600" dirty="0"/>
          </a:p>
        </p:txBody>
      </p:sp>
      <p:sp>
        <p:nvSpPr>
          <p:cNvPr id="4" name="Text 2"/>
          <p:cNvSpPr/>
          <p:nvPr/>
        </p:nvSpPr>
        <p:spPr>
          <a:xfrm>
            <a:off x="457200" y="658368"/>
            <a:ext cx="8229600" cy="274320"/>
          </a:xfrm>
          <a:prstGeom prst="rect">
            <a:avLst/>
          </a:prstGeom>
          <a:noFill/>
          <a:ln/>
        </p:spPr>
        <p:txBody>
          <a:bodyPr wrap="square" lIns="0" tIns="0" rIns="0" bIns="0" rtlCol="0" anchor="ctr"/>
          <a:lstStyle/>
          <a:p>
            <a:pPr marL="0" indent="0">
              <a:buNone/>
            </a:pPr>
            <a:r>
              <a:rPr lang="en-US" sz="1200" dirty="0">
                <a:solidFill>
                  <a:srgbClr val="5C6B52"/>
                </a:solidFill>
                <a:latin typeface="Apple SD Gothic Neo" pitchFamily="34" charset="0"/>
                <a:ea typeface="Apple SD Gothic Neo" pitchFamily="34" charset="-122"/>
                <a:cs typeface="Apple SD Gothic Neo" pitchFamily="34" charset="-120"/>
              </a:rPr>
              <a:t>vector.py · physics.py · config.py · gui.py · disaster.py · main.py</a:t>
            </a:r>
            <a:endParaRPr lang="en-US" sz="1200" dirty="0"/>
          </a:p>
        </p:txBody>
      </p:sp>
      <p:sp>
        <p:nvSpPr>
          <p:cNvPr id="5" name="Shape 3"/>
          <p:cNvSpPr/>
          <p:nvPr/>
        </p:nvSpPr>
        <p:spPr>
          <a:xfrm>
            <a:off x="457200" y="1097280"/>
            <a:ext cx="5212080" cy="73152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6" name="Shape 4"/>
          <p:cNvSpPr/>
          <p:nvPr/>
        </p:nvSpPr>
        <p:spPr>
          <a:xfrm>
            <a:off x="621792" y="1271016"/>
            <a:ext cx="384048" cy="384048"/>
          </a:xfrm>
          <a:prstGeom prst="ellipse">
            <a:avLst/>
          </a:prstGeom>
          <a:solidFill>
            <a:srgbClr val="44617B"/>
          </a:solidFill>
          <a:ln/>
        </p:spPr>
        <p:txBody>
          <a:bodyPr/>
          <a:lstStyle/>
          <a:p>
            <a:endParaRPr lang="ko-KR" altLang="en-US"/>
          </a:p>
        </p:txBody>
      </p:sp>
      <p:sp>
        <p:nvSpPr>
          <p:cNvPr id="7" name="Text 5"/>
          <p:cNvSpPr/>
          <p:nvPr/>
        </p:nvSpPr>
        <p:spPr>
          <a:xfrm>
            <a:off x="621792" y="127101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8" name="Text 6"/>
          <p:cNvSpPr/>
          <p:nvPr/>
        </p:nvSpPr>
        <p:spPr>
          <a:xfrm>
            <a:off x="1143000" y="1170432"/>
            <a:ext cx="4389120" cy="603504"/>
          </a:xfrm>
          <a:prstGeom prst="rect">
            <a:avLst/>
          </a:prstGeom>
          <a:noFill/>
          <a:ln/>
        </p:spPr>
        <p:txBody>
          <a:bodyPr wrap="square" lIns="0" tIns="0" rIns="0" bIns="0" rtlCol="0" anchor="ctr"/>
          <a:lstStyle/>
          <a:p>
            <a:pPr marL="0" indent="0">
              <a:lnSpc>
                <a:spcPct val="100000"/>
              </a:lnSpc>
              <a:buNone/>
            </a:pPr>
            <a:r>
              <a:rPr lang="en-US" sz="1250" b="1" dirty="0">
                <a:solidFill>
                  <a:srgbClr val="26331F"/>
                </a:solidFill>
                <a:latin typeface="Apple SD Gothic Neo" pitchFamily="34" charset="0"/>
                <a:ea typeface="Apple SD Gothic Neo" pitchFamily="34" charset="-122"/>
                <a:cs typeface="Apple SD Gothic Neo" pitchFamily="34" charset="-120"/>
              </a:rPr>
              <a:t>수식 그대로 읽히는 벡터</a:t>
            </a:r>
            <a:endParaRPr lang="en-US" sz="1250" dirty="0"/>
          </a:p>
          <a:p>
            <a:pPr marL="0" indent="0">
              <a:lnSpc>
                <a:spcPct val="100000"/>
              </a:lnSpc>
              <a:buNone/>
            </a:pPr>
            <a:r>
              <a:rPr lang="en-US" sz="1000" dirty="0">
                <a:solidFill>
                  <a:srgbClr val="5C6B52"/>
                </a:solidFill>
                <a:latin typeface="Apple SD Gothic Neo" pitchFamily="34" charset="0"/>
                <a:ea typeface="Apple SD Gothic Neo" pitchFamily="34" charset="-122"/>
                <a:cs typeface="Apple SD Gothic Neo" pitchFamily="34" charset="-120"/>
              </a:rPr>
              <a:t>연산자 오버로딩으로 물리 공식을 `place + vel × DT` 그대로 코드에 쓴다. __slots__로 실수까지 차단.</a:t>
            </a:r>
            <a:endParaRPr lang="en-US" sz="1250" dirty="0"/>
          </a:p>
        </p:txBody>
      </p:sp>
      <p:sp>
        <p:nvSpPr>
          <p:cNvPr id="9" name="Shape 7"/>
          <p:cNvSpPr/>
          <p:nvPr/>
        </p:nvSpPr>
        <p:spPr>
          <a:xfrm>
            <a:off x="457200" y="1938528"/>
            <a:ext cx="5212080" cy="73152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10" name="Shape 8"/>
          <p:cNvSpPr/>
          <p:nvPr/>
        </p:nvSpPr>
        <p:spPr>
          <a:xfrm>
            <a:off x="621792" y="2112264"/>
            <a:ext cx="384048" cy="384048"/>
          </a:xfrm>
          <a:prstGeom prst="ellipse">
            <a:avLst/>
          </a:prstGeom>
          <a:solidFill>
            <a:srgbClr val="44617B"/>
          </a:solidFill>
          <a:ln/>
        </p:spPr>
        <p:txBody>
          <a:bodyPr/>
          <a:lstStyle/>
          <a:p>
            <a:endParaRPr lang="ko-KR" altLang="en-US"/>
          </a:p>
        </p:txBody>
      </p:sp>
      <p:sp>
        <p:nvSpPr>
          <p:cNvPr id="11" name="Text 9"/>
          <p:cNvSpPr/>
          <p:nvPr/>
        </p:nvSpPr>
        <p:spPr>
          <a:xfrm>
            <a:off x="621792" y="21122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2" name="Text 10"/>
          <p:cNvSpPr/>
          <p:nvPr/>
        </p:nvSpPr>
        <p:spPr>
          <a:xfrm>
            <a:off x="1143000" y="2011680"/>
            <a:ext cx="4389120" cy="603504"/>
          </a:xfrm>
          <a:prstGeom prst="rect">
            <a:avLst/>
          </a:prstGeom>
          <a:noFill/>
          <a:ln/>
        </p:spPr>
        <p:txBody>
          <a:bodyPr wrap="square" lIns="0" tIns="0" rIns="0" bIns="0" rtlCol="0" anchor="ctr"/>
          <a:lstStyle/>
          <a:p>
            <a:pPr marL="0" indent="0">
              <a:lnSpc>
                <a:spcPct val="100000"/>
              </a:lnSpc>
              <a:buNone/>
            </a:pPr>
            <a:r>
              <a:rPr lang="en-US" sz="1250" b="1" dirty="0">
                <a:solidFill>
                  <a:srgbClr val="26331F"/>
                </a:solidFill>
                <a:latin typeface="Apple SD Gothic Neo" pitchFamily="34" charset="0"/>
                <a:ea typeface="Apple SD Gothic Neo" pitchFamily="34" charset="-122"/>
                <a:cs typeface="Apple SD Gothic Neo" pitchFamily="34" charset="-120"/>
              </a:rPr>
              <a:t>결정과 실행의 분리</a:t>
            </a:r>
            <a:endParaRPr lang="en-US" sz="1250" dirty="0"/>
          </a:p>
          <a:p>
            <a:pPr marL="0" indent="0">
              <a:lnSpc>
                <a:spcPct val="100000"/>
              </a:lnSpc>
              <a:buNone/>
            </a:pPr>
            <a:r>
              <a:rPr lang="en-US" sz="1000" dirty="0">
                <a:solidFill>
                  <a:srgbClr val="5C6B52"/>
                </a:solidFill>
                <a:latin typeface="Apple SD Gothic Neo" pitchFamily="34" charset="0"/>
                <a:ea typeface="Apple SD Gothic Neo" pitchFamily="34" charset="-122"/>
                <a:cs typeface="Apple SD Gothic Neo" pitchFamily="34" charset="-120"/>
              </a:rPr>
              <a:t>seek·flee·wander 조향이 '어디로 갈지'만 정하면, 오일러 적분(integrate)이 실제 위치에 반영한다.</a:t>
            </a:r>
            <a:endParaRPr lang="en-US" sz="1250" dirty="0"/>
          </a:p>
        </p:txBody>
      </p:sp>
      <p:sp>
        <p:nvSpPr>
          <p:cNvPr id="13" name="Shape 11"/>
          <p:cNvSpPr/>
          <p:nvPr/>
        </p:nvSpPr>
        <p:spPr>
          <a:xfrm>
            <a:off x="457200" y="2779776"/>
            <a:ext cx="5212080" cy="73152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14" name="Shape 12"/>
          <p:cNvSpPr/>
          <p:nvPr/>
        </p:nvSpPr>
        <p:spPr>
          <a:xfrm>
            <a:off x="621792" y="2953512"/>
            <a:ext cx="384048" cy="384048"/>
          </a:xfrm>
          <a:prstGeom prst="ellipse">
            <a:avLst/>
          </a:prstGeom>
          <a:solidFill>
            <a:srgbClr val="44617B"/>
          </a:solidFill>
          <a:ln/>
        </p:spPr>
        <p:txBody>
          <a:bodyPr/>
          <a:lstStyle/>
          <a:p>
            <a:endParaRPr lang="ko-KR" altLang="en-US"/>
          </a:p>
        </p:txBody>
      </p:sp>
      <p:sp>
        <p:nvSpPr>
          <p:cNvPr id="15" name="Text 13"/>
          <p:cNvSpPr/>
          <p:nvPr/>
        </p:nvSpPr>
        <p:spPr>
          <a:xfrm>
            <a:off x="621792" y="29535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6" name="Text 14"/>
          <p:cNvSpPr/>
          <p:nvPr/>
        </p:nvSpPr>
        <p:spPr>
          <a:xfrm>
            <a:off x="1143000" y="2852928"/>
            <a:ext cx="4389120" cy="603504"/>
          </a:xfrm>
          <a:prstGeom prst="rect">
            <a:avLst/>
          </a:prstGeom>
          <a:noFill/>
          <a:ln/>
        </p:spPr>
        <p:txBody>
          <a:bodyPr wrap="square" lIns="0" tIns="0" rIns="0" bIns="0" rtlCol="0" anchor="ctr"/>
          <a:lstStyle/>
          <a:p>
            <a:pPr marL="0" indent="0">
              <a:lnSpc>
                <a:spcPct val="100000"/>
              </a:lnSpc>
              <a:buNone/>
            </a:pPr>
            <a:r>
              <a:rPr lang="en-US" sz="1250" b="1" dirty="0">
                <a:solidFill>
                  <a:srgbClr val="26331F"/>
                </a:solidFill>
                <a:latin typeface="Apple SD Gothic Neo" pitchFamily="34" charset="0"/>
                <a:ea typeface="Apple SD Gothic Neo" pitchFamily="34" charset="-122"/>
                <a:cs typeface="Apple SD Gothic Neo" pitchFamily="34" charset="-120"/>
              </a:rPr>
              <a:t>tkinter만으로 만든 GUI</a:t>
            </a:r>
            <a:endParaRPr lang="en-US" sz="1250" dirty="0"/>
          </a:p>
          <a:p>
            <a:pPr marL="0" indent="0">
              <a:lnSpc>
                <a:spcPct val="100000"/>
              </a:lnSpc>
              <a:buNone/>
            </a:pPr>
            <a:r>
              <a:rPr lang="en-US" sz="1000" dirty="0">
                <a:solidFill>
                  <a:srgbClr val="5C6B52"/>
                </a:solidFill>
                <a:latin typeface="Apple SD Gothic Neo" pitchFamily="34" charset="0"/>
                <a:ea typeface="Apple SD Gothic Neo" pitchFamily="34" charset="-122"/>
                <a:cs typeface="Apple SD Gothic Neo" pitchFamily="34" charset="-120"/>
              </a:rPr>
              <a:t>after() 게임 루프 — 매 프레임 한 틱 + 다시 그리기. 체력바·기절 고리·통계·일지 시각화, 한/영 키 문제까지 해결.</a:t>
            </a:r>
            <a:endParaRPr lang="en-US" sz="1250" dirty="0"/>
          </a:p>
        </p:txBody>
      </p:sp>
      <p:sp>
        <p:nvSpPr>
          <p:cNvPr id="17" name="Shape 15"/>
          <p:cNvSpPr/>
          <p:nvPr/>
        </p:nvSpPr>
        <p:spPr>
          <a:xfrm>
            <a:off x="5897880" y="1097280"/>
            <a:ext cx="2834640" cy="2468880"/>
          </a:xfrm>
          <a:prstGeom prst="rect">
            <a:avLst/>
          </a:prstGeom>
          <a:solidFill>
            <a:srgbClr val="1E3D1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18" name="Text 16"/>
          <p:cNvSpPr/>
          <p:nvPr/>
        </p:nvSpPr>
        <p:spPr>
          <a:xfrm>
            <a:off x="5897880" y="1280160"/>
            <a:ext cx="2834640" cy="548640"/>
          </a:xfrm>
          <a:prstGeom prst="rect">
            <a:avLst/>
          </a:prstGeom>
          <a:noFill/>
          <a:ln/>
        </p:spPr>
        <p:txBody>
          <a:bodyPr wrap="square" rtlCol="0" anchor="ctr"/>
          <a:lstStyle/>
          <a:p>
            <a:pPr marL="0" indent="0" algn="ctr">
              <a:buNone/>
            </a:pPr>
            <a:r>
              <a:rPr lang="en-US" sz="3000" dirty="0">
                <a:solidFill>
                  <a:srgbClr val="000000"/>
                </a:solidFill>
                <a:latin typeface="Apple SD Gothic Neo" pitchFamily="34" charset="0"/>
                <a:ea typeface="Apple SD Gothic Neo" pitchFamily="34" charset="-122"/>
                <a:cs typeface="Apple SD Gothic Neo" pitchFamily="34" charset="-120"/>
              </a:rPr>
              <a:t>🚜</a:t>
            </a:r>
            <a:endParaRPr lang="en-US" sz="3000" dirty="0"/>
          </a:p>
        </p:txBody>
      </p:sp>
      <p:sp>
        <p:nvSpPr>
          <p:cNvPr id="19" name="Text 17"/>
          <p:cNvSpPr/>
          <p:nvPr/>
        </p:nvSpPr>
        <p:spPr>
          <a:xfrm>
            <a:off x="6080760" y="1874520"/>
            <a:ext cx="2468880" cy="1600200"/>
          </a:xfrm>
          <a:prstGeom prst="rect">
            <a:avLst/>
          </a:prstGeom>
          <a:noFill/>
          <a:ln/>
        </p:spPr>
        <p:txBody>
          <a:bodyPr wrap="square" lIns="0" tIns="0" rIns="0" bIns="0" rtlCol="0" anchor="t"/>
          <a:lstStyle/>
          <a:p>
            <a:pPr marL="0" indent="0">
              <a:spcAft>
                <a:spcPts val="600"/>
              </a:spcAft>
              <a:buNone/>
            </a:pPr>
            <a:r>
              <a:rPr lang="en-US" sz="1400" b="1" dirty="0">
                <a:solidFill>
                  <a:srgbClr val="FFD54F"/>
                </a:solidFill>
                <a:latin typeface="Apple SD Gothic Neo" pitchFamily="34" charset="0"/>
                <a:ea typeface="Apple SD Gothic Neo" pitchFamily="34" charset="-122"/>
                <a:cs typeface="Apple SD Gothic Neo" pitchFamily="34" charset="-120"/>
              </a:rPr>
              <a:t>종료를 '사건'으로</a:t>
            </a:r>
            <a:endParaRPr lang="en-US" sz="1400" dirty="0"/>
          </a:p>
          <a:p>
            <a:pPr marL="0" indent="0">
              <a:spcAft>
                <a:spcPts val="500"/>
              </a:spcAft>
              <a:buNone/>
            </a:pPr>
            <a:r>
              <a:rPr lang="en-US" sz="1050" dirty="0">
                <a:solidFill>
                  <a:srgbClr val="E8EFDC"/>
                </a:solidFill>
                <a:latin typeface="Apple SD Gothic Neo" pitchFamily="34" charset="0"/>
                <a:ea typeface="Apple SD Gothic Neo" pitchFamily="34" charset="-122"/>
                <a:cs typeface="Apple SD Gothic Neo" pitchFamily="34" charset="-120"/>
              </a:rPr>
              <a:t>D키 → 트랙터 무리가 초원 전체 높이를 덮도록 자동 계산되어 등장, 화면을 가로지르며 모든 생물을 밀어버린다.</a:t>
            </a:r>
            <a:endParaRPr lang="en-US" sz="1400" dirty="0"/>
          </a:p>
          <a:p>
            <a:pPr marL="0" indent="0">
              <a:buNone/>
            </a:pPr>
            <a:r>
              <a:rPr lang="en-US" sz="1050" i="1" dirty="0">
                <a:solidFill>
                  <a:srgbClr val="C9DBA3"/>
                </a:solidFill>
                <a:latin typeface="Apple SD Gothic Neo" pitchFamily="34" charset="0"/>
                <a:ea typeface="Apple SD Gothic Neo" pitchFamily="34" charset="-122"/>
                <a:cs typeface="Apple SD Gothic Neo" pitchFamily="34" charset="-120"/>
              </a:rPr>
              <a:t>스위치가 아니라 시간의 흐름으로 관찰되는 종료 조건.</a:t>
            </a:r>
            <a:endParaRPr lang="en-US" sz="1400" dirty="0"/>
          </a:p>
        </p:txBody>
      </p:sp>
      <p:sp>
        <p:nvSpPr>
          <p:cNvPr id="20" name="Shape 18"/>
          <p:cNvSpPr/>
          <p:nvPr/>
        </p:nvSpPr>
        <p:spPr>
          <a:xfrm>
            <a:off x="5897880" y="3703320"/>
            <a:ext cx="2834640" cy="86868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21" name="Text 19"/>
          <p:cNvSpPr/>
          <p:nvPr/>
        </p:nvSpPr>
        <p:spPr>
          <a:xfrm>
            <a:off x="6080760" y="3822192"/>
            <a:ext cx="2468880" cy="640080"/>
          </a:xfrm>
          <a:prstGeom prst="rect">
            <a:avLst/>
          </a:prstGeom>
          <a:noFill/>
          <a:ln/>
        </p:spPr>
        <p:txBody>
          <a:bodyPr wrap="square" lIns="0" tIns="0" rIns="0" bIns="0" rtlCol="0" anchor="ctr"/>
          <a:lstStyle/>
          <a:p>
            <a:pPr marL="0" indent="0">
              <a:buNone/>
            </a:pPr>
            <a:r>
              <a:rPr lang="en-US" sz="1150" b="1" dirty="0">
                <a:solidFill>
                  <a:srgbClr val="26331F"/>
                </a:solidFill>
                <a:latin typeface="Apple SD Gothic Neo" pitchFamily="34" charset="0"/>
                <a:ea typeface="Apple SD Gothic Neo" pitchFamily="34" charset="-122"/>
                <a:cs typeface="Apple SD Gothic Neo" pitchFamily="34" charset="-120"/>
              </a:rPr>
              <a:t>main.py — 진입점</a:t>
            </a:r>
            <a:endParaRPr lang="en-US" sz="1150" dirty="0"/>
          </a:p>
          <a:p>
            <a:pPr marL="0" indent="0">
              <a:buNone/>
            </a:pPr>
            <a:r>
              <a:rPr lang="en-US" sz="1000" dirty="0">
                <a:solidFill>
                  <a:srgbClr val="5C6B52"/>
                </a:solidFill>
                <a:latin typeface="Apple SD Gothic Neo" pitchFamily="34" charset="0"/>
                <a:ea typeface="Apple SD Gothic Neo" pitchFamily="34" charset="-122"/>
                <a:cs typeface="Apple SD Gothic Neo" pitchFamily="34" charset="-120"/>
              </a:rPr>
              <a:t>python3 main.py 한 줄, 추가 설치 0개</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7">
    <p:bg>
      <p:bgPr>
        <a:solidFill>
          <a:srgbClr val="F6F8F0"/>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97BC62"/>
          </a:solidFill>
          <a:ln/>
        </p:spPr>
        <p:txBody>
          <a:bodyPr/>
          <a:lstStyle/>
          <a:p>
            <a:endParaRPr lang="ko-KR" altLang="en-US"/>
          </a:p>
        </p:txBody>
      </p:sp>
      <p:sp>
        <p:nvSpPr>
          <p:cNvPr id="3" name="Text 1"/>
          <p:cNvSpPr/>
          <p:nvPr/>
        </p:nvSpPr>
        <p:spPr>
          <a:xfrm>
            <a:off x="457200" y="201168"/>
            <a:ext cx="8229600" cy="502920"/>
          </a:xfrm>
          <a:prstGeom prst="rect">
            <a:avLst/>
          </a:prstGeom>
          <a:noFill/>
          <a:ln/>
        </p:spPr>
        <p:txBody>
          <a:bodyPr wrap="square" lIns="0" tIns="0" rIns="0" bIns="0" rtlCol="0" anchor="ctr"/>
          <a:lstStyle/>
          <a:p>
            <a:pPr marL="0" indent="0">
              <a:buNone/>
            </a:pPr>
            <a:r>
              <a:rPr lang="en-US" sz="2600" b="1" dirty="0">
                <a:solidFill>
                  <a:srgbClr val="1E3D1F"/>
                </a:solidFill>
                <a:latin typeface="Apple SD Gothic Neo" pitchFamily="34" charset="0"/>
                <a:ea typeface="Apple SD Gothic Neo" pitchFamily="34" charset="-122"/>
                <a:cs typeface="Apple SD Gothic Neo" pitchFamily="34" charset="-120"/>
              </a:rPr>
              <a:t>③ 한시헌 — 초식동물의 생존 본능과 식물</a:t>
            </a:r>
            <a:endParaRPr lang="en-US" sz="2600" dirty="0"/>
          </a:p>
        </p:txBody>
      </p:sp>
      <p:sp>
        <p:nvSpPr>
          <p:cNvPr id="4" name="Text 2"/>
          <p:cNvSpPr/>
          <p:nvPr/>
        </p:nvSpPr>
        <p:spPr>
          <a:xfrm>
            <a:off x="457200" y="658368"/>
            <a:ext cx="8229600" cy="274320"/>
          </a:xfrm>
          <a:prstGeom prst="rect">
            <a:avLst/>
          </a:prstGeom>
          <a:noFill/>
          <a:ln/>
        </p:spPr>
        <p:txBody>
          <a:bodyPr wrap="square" lIns="0" tIns="0" rIns="0" bIns="0" rtlCol="0" anchor="ctr"/>
          <a:lstStyle/>
          <a:p>
            <a:pPr marL="0" indent="0">
              <a:buNone/>
            </a:pPr>
            <a:r>
              <a:rPr lang="en-US" sz="1200" dirty="0">
                <a:solidFill>
                  <a:srgbClr val="5C6B52"/>
                </a:solidFill>
                <a:latin typeface="Apple SD Gothic Neo" pitchFamily="34" charset="0"/>
                <a:ea typeface="Apple SD Gothic Neo" pitchFamily="34" charset="-122"/>
                <a:cs typeface="Apple SD Gothic Neo" pitchFamily="34" charset="-120"/>
              </a:rPr>
              <a:t>organisms.py(Herbivore·Plant) · herbivores.py(토끼·기린) · plants.py</a:t>
            </a:r>
            <a:endParaRPr lang="en-US" sz="1200" dirty="0"/>
          </a:p>
        </p:txBody>
      </p:sp>
      <p:sp>
        <p:nvSpPr>
          <p:cNvPr id="5" name="Shape 3"/>
          <p:cNvSpPr/>
          <p:nvPr/>
        </p:nvSpPr>
        <p:spPr>
          <a:xfrm>
            <a:off x="457200" y="1097280"/>
            <a:ext cx="5212080" cy="73152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6" name="Text 4"/>
          <p:cNvSpPr/>
          <p:nvPr/>
        </p:nvSpPr>
        <p:spPr>
          <a:xfrm>
            <a:off x="566928" y="1216152"/>
            <a:ext cx="502920" cy="502920"/>
          </a:xfrm>
          <a:prstGeom prst="rect">
            <a:avLst/>
          </a:prstGeom>
          <a:noFill/>
          <a:ln/>
        </p:spPr>
        <p:txBody>
          <a:bodyPr wrap="square" lIns="0" tIns="0" rIns="0" bIns="0" rtlCol="0" anchor="ctr"/>
          <a:lstStyle/>
          <a:p>
            <a:pPr marL="0" indent="0" algn="ctr">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7" name="Text 5"/>
          <p:cNvSpPr/>
          <p:nvPr/>
        </p:nvSpPr>
        <p:spPr>
          <a:xfrm>
            <a:off x="1143000" y="1170432"/>
            <a:ext cx="4389120" cy="603504"/>
          </a:xfrm>
          <a:prstGeom prst="rect">
            <a:avLst/>
          </a:prstGeom>
          <a:noFill/>
          <a:ln/>
        </p:spPr>
        <p:txBody>
          <a:bodyPr wrap="square" lIns="0" tIns="0" rIns="0" bIns="0" rtlCol="0" anchor="ctr"/>
          <a:lstStyle/>
          <a:p>
            <a:pPr marL="0" indent="0">
              <a:buNone/>
            </a:pPr>
            <a:r>
              <a:rPr lang="en-US" sz="1250" b="1" dirty="0">
                <a:solidFill>
                  <a:srgbClr val="26331F"/>
                </a:solidFill>
                <a:latin typeface="Apple SD Gothic Neo" pitchFamily="34" charset="0"/>
                <a:ea typeface="Apple SD Gothic Neo" pitchFamily="34" charset="-122"/>
                <a:cs typeface="Apple SD Gothic Neo" pitchFamily="34" charset="-120"/>
              </a:rPr>
              <a:t>토끼 hide() · 기린 neckfight()</a:t>
            </a:r>
            <a:endParaRPr lang="en-US" sz="1250" dirty="0"/>
          </a:p>
          <a:p>
            <a:pPr marL="0" indent="0">
              <a:buNone/>
            </a:pPr>
            <a:r>
              <a:rPr lang="en-US" sz="1000" dirty="0">
                <a:solidFill>
                  <a:srgbClr val="5C6B52"/>
                </a:solidFill>
                <a:latin typeface="Apple SD Gothic Neo" pitchFamily="34" charset="0"/>
                <a:ea typeface="Apple SD Gothic Neo" pitchFamily="34" charset="-122"/>
                <a:cs typeface="Apple SD Gothic Neo" pitchFamily="34" charset="-120"/>
              </a:rPr>
              <a:t>풀숲 은신(풀 하나당 3마리 한계) · 넥스윙으로 포식자를 밀쳐내고 피해</a:t>
            </a:r>
            <a:endParaRPr lang="en-US" sz="1250" dirty="0"/>
          </a:p>
        </p:txBody>
      </p:sp>
      <p:sp>
        <p:nvSpPr>
          <p:cNvPr id="8" name="Shape 6"/>
          <p:cNvSpPr/>
          <p:nvPr/>
        </p:nvSpPr>
        <p:spPr>
          <a:xfrm>
            <a:off x="457200" y="1938528"/>
            <a:ext cx="5212080" cy="73152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9" name="Text 7"/>
          <p:cNvSpPr/>
          <p:nvPr/>
        </p:nvSpPr>
        <p:spPr>
          <a:xfrm>
            <a:off x="566928" y="2057400"/>
            <a:ext cx="502920" cy="502920"/>
          </a:xfrm>
          <a:prstGeom prst="rect">
            <a:avLst/>
          </a:prstGeom>
          <a:noFill/>
          <a:ln/>
        </p:spPr>
        <p:txBody>
          <a:bodyPr wrap="square" lIns="0" tIns="0" rIns="0" bIns="0" rtlCol="0" anchor="ctr"/>
          <a:lstStyle/>
          <a:p>
            <a:pPr marL="0" indent="0" algn="ctr">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8"/>
          <p:cNvSpPr/>
          <p:nvPr/>
        </p:nvSpPr>
        <p:spPr>
          <a:xfrm>
            <a:off x="1143000" y="2011680"/>
            <a:ext cx="4389120" cy="603504"/>
          </a:xfrm>
          <a:prstGeom prst="rect">
            <a:avLst/>
          </a:prstGeom>
          <a:noFill/>
          <a:ln/>
        </p:spPr>
        <p:txBody>
          <a:bodyPr wrap="square" lIns="0" tIns="0" rIns="0" bIns="0" rtlCol="0" anchor="ctr"/>
          <a:lstStyle/>
          <a:p>
            <a:pPr marL="0" indent="0">
              <a:buNone/>
            </a:pPr>
            <a:r>
              <a:rPr lang="en-US" sz="1250" b="1" dirty="0">
                <a:solidFill>
                  <a:srgbClr val="26331F"/>
                </a:solidFill>
                <a:latin typeface="Apple SD Gothic Neo" pitchFamily="34" charset="0"/>
                <a:ea typeface="Apple SD Gothic Neo" pitchFamily="34" charset="-122"/>
                <a:cs typeface="Apple SD Gothic Neo" pitchFamily="34" charset="-120"/>
              </a:rPr>
              <a:t>풀의 자원 관리</a:t>
            </a:r>
            <a:endParaRPr lang="en-US" sz="1250" dirty="0"/>
          </a:p>
          <a:p>
            <a:pPr marL="0" indent="0">
              <a:buNone/>
            </a:pPr>
            <a:r>
              <a:rPr lang="en-US" sz="1000" dirty="0">
                <a:solidFill>
                  <a:srgbClr val="5C6B52"/>
                </a:solidFill>
                <a:latin typeface="Apple SD Gothic Neo" pitchFamily="34" charset="0"/>
                <a:ea typeface="Apple SD Gothic Neo" pitchFamily="34" charset="-122"/>
                <a:cs typeface="Apple SD Gothic Neo" pitchFamily="34" charset="-120"/>
              </a:rPr>
              <a:t>be_eaten()으로 먹힌 양을 풀 스스로 관리, 120틱 후 재성장. 풀 하나당 토끼 3마리 은신 한계</a:t>
            </a:r>
            <a:endParaRPr lang="en-US" sz="1250" dirty="0"/>
          </a:p>
        </p:txBody>
      </p:sp>
      <p:sp>
        <p:nvSpPr>
          <p:cNvPr id="11" name="Shape 9"/>
          <p:cNvSpPr/>
          <p:nvPr/>
        </p:nvSpPr>
        <p:spPr>
          <a:xfrm>
            <a:off x="457200" y="2779776"/>
            <a:ext cx="5212080" cy="73152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12" name="Text 10"/>
          <p:cNvSpPr/>
          <p:nvPr/>
        </p:nvSpPr>
        <p:spPr>
          <a:xfrm>
            <a:off x="566928" y="2898648"/>
            <a:ext cx="502920" cy="502920"/>
          </a:xfrm>
          <a:prstGeom prst="rect">
            <a:avLst/>
          </a:prstGeom>
          <a:noFill/>
          <a:ln/>
        </p:spPr>
        <p:txBody>
          <a:bodyPr wrap="square" lIns="0" tIns="0" rIns="0" bIns="0" rtlCol="0" anchor="ctr"/>
          <a:lstStyle/>
          <a:p>
            <a:pPr marL="0" indent="0" algn="ctr">
              <a:buNone/>
            </a:pPr>
            <a:r>
              <a:rPr lang="en-US" sz="2200" dirty="0">
                <a:solidFill>
                  <a:srgbClr val="000000"/>
                </a:solidFill>
                <a:latin typeface="Apple SD Gothic Neo" pitchFamily="34" charset="0"/>
                <a:ea typeface="Apple SD Gothic Neo" pitchFamily="34" charset="-122"/>
                <a:cs typeface="Apple SD Gothic Neo" pitchFamily="34" charset="-120"/>
              </a:rPr>
              <a:t>🧬</a:t>
            </a:r>
            <a:endParaRPr lang="en-US" sz="2200" dirty="0"/>
          </a:p>
        </p:txBody>
      </p:sp>
      <p:sp>
        <p:nvSpPr>
          <p:cNvPr id="13" name="Text 11"/>
          <p:cNvSpPr/>
          <p:nvPr/>
        </p:nvSpPr>
        <p:spPr>
          <a:xfrm>
            <a:off x="1143000" y="2852928"/>
            <a:ext cx="4389120" cy="603504"/>
          </a:xfrm>
          <a:prstGeom prst="rect">
            <a:avLst/>
          </a:prstGeom>
          <a:noFill/>
          <a:ln/>
        </p:spPr>
        <p:txBody>
          <a:bodyPr wrap="square" lIns="0" tIns="0" rIns="0" bIns="0" rtlCol="0" anchor="ctr"/>
          <a:lstStyle/>
          <a:p>
            <a:pPr marL="0" indent="0">
              <a:buNone/>
            </a:pPr>
            <a:r>
              <a:rPr lang="en-US" sz="1250" b="1" dirty="0">
                <a:solidFill>
                  <a:srgbClr val="26331F"/>
                </a:solidFill>
                <a:latin typeface="Apple SD Gothic Neo" pitchFamily="34" charset="0"/>
                <a:ea typeface="Apple SD Gothic Neo" pitchFamily="34" charset="-122"/>
                <a:cs typeface="Apple SD Gothic Neo" pitchFamily="34" charset="-120"/>
              </a:rPr>
              <a:t>reproduce() — 한 번만 구현</a:t>
            </a:r>
            <a:endParaRPr lang="en-US" sz="1250" dirty="0"/>
          </a:p>
          <a:p>
            <a:pPr marL="0" indent="0">
              <a:buNone/>
            </a:pPr>
            <a:r>
              <a:rPr lang="en-US" sz="1000" dirty="0">
                <a:solidFill>
                  <a:srgbClr val="5C6B52"/>
                </a:solidFill>
                <a:latin typeface="Apple SD Gothic Neo" pitchFamily="34" charset="0"/>
                <a:ea typeface="Apple SD Gothic Neo" pitchFamily="34" charset="-122"/>
                <a:cs typeface="Apple SD Gothic Neo" pitchFamily="34" charset="-120"/>
              </a:rPr>
              <a:t>type(self)로 같은 종을 생성 — 토끼는 토끼를, 기린은 기린을. 자식마다 번식 코드가 필요 없다</a:t>
            </a:r>
            <a:endParaRPr lang="en-US" sz="1250" dirty="0"/>
          </a:p>
        </p:txBody>
      </p:sp>
      <p:sp>
        <p:nvSpPr>
          <p:cNvPr id="14" name="Shape 12"/>
          <p:cNvSpPr/>
          <p:nvPr/>
        </p:nvSpPr>
        <p:spPr>
          <a:xfrm>
            <a:off x="5897880" y="1097280"/>
            <a:ext cx="2834640" cy="2468880"/>
          </a:xfrm>
          <a:prstGeom prst="rect">
            <a:avLst/>
          </a:prstGeom>
          <a:solidFill>
            <a:srgbClr val="2C5F2D"/>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15" name="Text 13"/>
          <p:cNvSpPr/>
          <p:nvPr/>
        </p:nvSpPr>
        <p:spPr>
          <a:xfrm>
            <a:off x="6080760" y="1298448"/>
            <a:ext cx="2468880" cy="2148840"/>
          </a:xfrm>
          <a:prstGeom prst="rect">
            <a:avLst/>
          </a:prstGeom>
          <a:noFill/>
          <a:ln/>
        </p:spPr>
        <p:txBody>
          <a:bodyPr wrap="square" lIns="0" tIns="0" rIns="0" bIns="0" rtlCol="0" anchor="t"/>
          <a:lstStyle/>
          <a:p>
            <a:pPr marL="0" indent="0">
              <a:spcAft>
                <a:spcPts val="600"/>
              </a:spcAft>
              <a:buNone/>
            </a:pPr>
            <a:r>
              <a:rPr lang="en-US" sz="1400" b="1" dirty="0">
                <a:solidFill>
                  <a:srgbClr val="FFFFFF"/>
                </a:solidFill>
                <a:latin typeface="Apple SD Gothic Neo" pitchFamily="34" charset="0"/>
                <a:ea typeface="Apple SD Gothic Neo" pitchFamily="34" charset="-122"/>
                <a:cs typeface="Apple SD Gothic Neo" pitchFamily="34" charset="-120"/>
              </a:rPr>
              <a:t>🌳 번식터 분산 알고리즘</a:t>
            </a:r>
            <a:endParaRPr lang="en-US" sz="1400" dirty="0"/>
          </a:p>
          <a:p>
            <a:pPr marL="0" indent="0">
              <a:spcAft>
                <a:spcPts val="500"/>
              </a:spcAft>
              <a:buNone/>
            </a:pPr>
            <a:r>
              <a:rPr lang="en-US" sz="1050" dirty="0">
                <a:solidFill>
                  <a:srgbClr val="E8EFDC"/>
                </a:solidFill>
                <a:latin typeface="Apple SD Gothic Neo" pitchFamily="34" charset="0"/>
                <a:ea typeface="Apple SD Gothic Neo" pitchFamily="34" charset="-122"/>
                <a:cs typeface="Apple SD Gothic Neo" pitchFamily="34" charset="-120"/>
              </a:rPr>
              <a:t>문제: 모두가 가장 가까운 나무 한곳에 몰려 화면이 겹쳐 보였다.</a:t>
            </a:r>
            <a:endParaRPr lang="en-US" sz="1400" dirty="0"/>
          </a:p>
          <a:p>
            <a:pPr marL="0" indent="0">
              <a:buNone/>
            </a:pPr>
            <a:r>
              <a:rPr lang="en-US" sz="1050" dirty="0">
                <a:solidFill>
                  <a:srgbClr val="C9DBA3"/>
                </a:solidFill>
                <a:latin typeface="Apple SD Gothic Neo" pitchFamily="34" charset="0"/>
                <a:ea typeface="Apple SD Gothic Neo" pitchFamily="34" charset="-122"/>
                <a:cs typeface="Apple SD Gothic Neo" pitchFamily="34" charset="-120"/>
              </a:rPr>
              <a:t>해결: 덜 붐비는 나무를 고르고, 나무 중심이 아닌 '둘레의 자기 자리'(개체별 선호 각도)로 — 번식 조건은 유지하고 군집만 풀었다.</a:t>
            </a:r>
            <a:endParaRPr lang="en-US" sz="1400" dirty="0"/>
          </a:p>
        </p:txBody>
      </p:sp>
      <p:sp>
        <p:nvSpPr>
          <p:cNvPr id="16" name="Shape 14"/>
          <p:cNvSpPr/>
          <p:nvPr/>
        </p:nvSpPr>
        <p:spPr>
          <a:xfrm>
            <a:off x="5897880" y="3703320"/>
            <a:ext cx="2834640" cy="868680"/>
          </a:xfrm>
          <a:prstGeom prst="rect">
            <a:avLst/>
          </a:prstGeom>
          <a:solidFill>
            <a:srgbClr val="FFFFFF"/>
          </a:solidFill>
          <a:ln w="12700">
            <a:solidFill>
              <a:srgbClr val="DDE5D2"/>
            </a:solidFill>
            <a:prstDash val="solid"/>
          </a:ln>
          <a:effectLst>
            <a:outerShdw blurRad="63500" dist="25400" dir="8100000" algn="bl" rotWithShape="0">
              <a:srgbClr val="000000">
                <a:alpha val="12000"/>
              </a:srgbClr>
            </a:outerShdw>
          </a:effectLst>
        </p:spPr>
        <p:txBody>
          <a:bodyPr/>
          <a:lstStyle/>
          <a:p>
            <a:endParaRPr lang="ko-KR" altLang="en-US"/>
          </a:p>
        </p:txBody>
      </p:sp>
      <p:sp>
        <p:nvSpPr>
          <p:cNvPr id="17" name="Text 15"/>
          <p:cNvSpPr/>
          <p:nvPr/>
        </p:nvSpPr>
        <p:spPr>
          <a:xfrm>
            <a:off x="6080760" y="3803904"/>
            <a:ext cx="2514600" cy="685800"/>
          </a:xfrm>
          <a:prstGeom prst="rect">
            <a:avLst/>
          </a:prstGeom>
          <a:noFill/>
          <a:ln/>
        </p:spPr>
        <p:txBody>
          <a:bodyPr wrap="square" lIns="0" tIns="0" rIns="0" bIns="0" rtlCol="0" anchor="ctr"/>
          <a:lstStyle/>
          <a:p>
            <a:pPr marL="0" indent="0">
              <a:buNone/>
            </a:pPr>
            <a:r>
              <a:rPr lang="en-US" sz="1150" b="1" dirty="0">
                <a:solidFill>
                  <a:srgbClr val="26331F"/>
                </a:solidFill>
                <a:latin typeface="Apple SD Gothic Neo" pitchFamily="34" charset="0"/>
                <a:ea typeface="Apple SD Gothic Neo" pitchFamily="34" charset="-122"/>
                <a:cs typeface="Apple SD Gothic Neo" pitchFamily="34" charset="-120"/>
              </a:rPr>
              <a:t>Herbivore 공통 생존 흐름</a:t>
            </a:r>
            <a:endParaRPr lang="en-US" sz="1150" dirty="0"/>
          </a:p>
          <a:p>
            <a:pPr marL="0" indent="0">
              <a:buNone/>
            </a:pPr>
            <a:r>
              <a:rPr lang="en-US" sz="1000" dirty="0">
                <a:solidFill>
                  <a:srgbClr val="5C6B52"/>
                </a:solidFill>
                <a:latin typeface="Apple SD Gothic Neo" pitchFamily="34" charset="0"/>
                <a:ea typeface="Apple SD Gothic Neo" pitchFamily="34" charset="-122"/>
                <a:cs typeface="Apple SD Gothic Neo" pitchFamily="34" charset="-120"/>
              </a:rPr>
              <a:t>포식자가 가까우면 도망 → 배고프면 풀 → 준비되면 번식터로.</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1098</Words>
  <Application>Microsoft Macintosh PowerPoint</Application>
  <PresentationFormat>화면 슬라이드 쇼(16:9)</PresentationFormat>
  <Paragraphs>82</Paragraphs>
  <Slides>4</Slides>
  <Notes>4</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4</vt:i4>
      </vt:variant>
    </vt:vector>
  </HeadingPairs>
  <TitlesOfParts>
    <vt:vector size="7" baseType="lpstr">
      <vt:lpstr>Apple SD Gothic Neo</vt:lpstr>
      <vt:lpstr>Arial</vt:lpstr>
      <vt:lpstr>Office Theme</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초원 생태계 시뮬레이션</dc:title>
  <dc:subject>PptxGenJS Presentation</dc:subject>
  <dc:creator>네이처 빌더</dc:creator>
  <cp:lastModifiedBy>홍순율</cp:lastModifiedBy>
  <cp:revision>2</cp:revision>
  <dcterms:created xsi:type="dcterms:W3CDTF">2026-06-10T13:59:30Z</dcterms:created>
  <dcterms:modified xsi:type="dcterms:W3CDTF">2026-06-10T14:36:12Z</dcterms:modified>
</cp:coreProperties>
</file>