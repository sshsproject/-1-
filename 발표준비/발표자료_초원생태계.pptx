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조 이름과 주제를 소개하고 바로 개요로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핵심: 표준 라이브러리만 사용, 9종 생물, 8가지 상호작용, 트랙터 재난 종료.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[클래스 다이어그램 대본 · 약 1분 5초 — 심성진 파트(부모 클래스·월드) 대체, 첫 발표자가 낭독]
파트 설명에 앞서 전체 클래스 구조를 소개하겠습니다. 저희 코드의 모든 구성원은 하나의 상속 트리 위에 있습니다. 최상위에는 추상 클래스 Entity가 있어 위치, 생존 여부, 그리고 매 틱 호출되는 update라는 공통 인터페이스를 정의합니다. 덕분에 물리엔진과 화면이 동물이든 식물이든 트랙터든 똑같은 방식으로 다룰 수 있습니다. 그 아래 Animal은 속도, 체력, 공격력, 회복력, 허기라는 공통 속성과 함께 '템플릿 메서드 패턴'을 구현합니다. update가 타이머 감소, 허기 증가, 행동 결정, 이동, 죽음 판정이라는 공통 흐름을 고정하고, 종마다 다른 행동은 추상 메서드 act 하나에만 맡기는 구조라서, 새로운 동물을 추가할 때는 act만 구현하면 됩니다. Animal 아래는 번식 게이지와 reproduce를 가진 초식동물 Herbivore, 기력과 attack을 가진 육식동물 Carnivore로 갈라지고, 그 아래 토끼, 기린, 얼룩말, 코끼리, 사자, 치타, 하이에나 일곱 종이 각자 고유 능력 메서드 하나씩을 더합니다. 식물은 Plant 아래 풀과 나무가 있는데, 풀은 먹이이자 토끼의 은신처, 나무는 모든 번식이 일어나는 만남의 장소입니다. 이렇게 '공통은 위로, 차이는 아래로' 보내는 상속 설계 덕분에 네 명이 코드 중복 없이 분업할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순서: ①홍순율이 벡터→물리엔진→설정으로 기반(의존성 없음) ②심성진이 Entity·Animal·Carnivore로 인터페이스를 고정, 한시헌이 같은 파일에 Herbivore·Plant ③고정 즉시 세 명이 동시에 구체 동물 작성(심준서 육식 / 한시헌 식물·토끼·기린 / 심성진 얼룩말·코끼리) ④심성진 world + 심준서 interactions 병렬 ⑤홍순율이 disaster→gui→main으로 종료·화면·진입점 완성 ⑥다 함께 통합·밸런싱.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약 1분 25초]
안녕하세요, 물리엔진과 화면, 프로그램의 시작과 끝을 맡은 홍순율입니다. 저희는 외부 라이브러리 없이 100% 파이썬 표준 라이브러리로 만들었기 때문에 물리엔진도 직접 구현했습니다. vector.py의 2차원 벡터 클래스에 연산자 오버로딩을 적용해 물리 공식을 '위치 더하기 속도 곱하기 시간'처럼 수식 그대로 쓸 수 있게 했고, physics.py는 '결정과 실행의 분리'가 핵심입니다. seek, flee 같은 조향 함수가 어디로 갈지 속도만 정하면 integrate가 오일러 적분으로 위치에 반영하고, 충돌은 모든 개체를 원으로 보고 제곱거리 비교로 빠르게 판정합니다. 화면도 제가 만들었습니다. gui.py는 tkinter만으로, while 루프 대신 after 예약 방식의 게임 루프를 써서 매 프레임 월드를 한 틱 진행하고 다시 그립니다. 체력바, 기절 표시, 개체 수 통계, 생태계 일지로 변화가 한눈에 보이고, 한글 입력 상태에서 키가 안 먹는 문제까지 처리했습니다. 마지막 disaster.py의 트랙터 재난은, D키를 누르면 트랙터 무리가 초원 전체 높이를 덮도록 계산되어 등장해 화면을 가로지르며 모든 생물을 밀어버리는 종료 조건입니다. 종료를 스위치가 아니라 시간의 흐름으로 관찰되는 사건으로 만든 것이 포인트입니다.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약 1분 25초]
육식동물과 동물 간 상호작용을 맡은 심준서입니다. 사자, 치타, 하이에나는 모두 Carnivore 부모를 상속받아서 공통 추격 로직은 물려받고, 고유 능력만 따로 구현했습니다. 사자의 포효는 주변 동물 전체를 둔화시키는데, 동료 포식자까지 함께 느려지는 '양날의 검'으로 설계했습니다. 치타의 부스트는 먹이가 멀리 있을 때만 발동해서 1.8배로 가속합니다. 제가 가장 자랑하고 싶은 건 하이에나입니다. 하이에나는 직접 사냥하기보다, 지금 사냥 중인 사자나 치타를 찾아 그 먹이를 향해 끼어들고, 사냥이 성공하는 순간 확률적으로 가로챕니다. 이게 가능했던 이유는 '공격'과 '먹기'를 분리했기 때문입니다. 누가 죽였든, 먹는 쪽은 다를 수 있게 만든 거죠. interactions.py는 풀 먹기, 사냥, 기린 싸움, 번식처럼 둘 이상의 개체가 엮이는 사건을 매 틱 중재하는 모듈입니다. 번식은 나무 근처에서 같은 종 두 마리가 만나면 일어나는데, 멸종 방지를 위해 한 마리만 준비돼도 짝과 번식하도록 조건을 완화했고, 태어난 새끼는 부모와 겹치지 않게 나무 바깥쪽에 배치해 출생 장면이 눈에 보이도록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 · 약 1분 20초]
초식동물과 식물을 맡은 한시헌입니다. 모든 초식동물이 상속받는 Herbivore 부모 클래스에 공통 생존 흐름을 구현했습니다. 포식자가 가까우면 도망가고, 배고프면 풀을 찾고, 번식 준비가 되면 나무로 모이는 순서입니다. 제가 가장 공들인 부분은 번식터 분산 알고리즘입니다. 처음에는 모든 동물이 가장 가까운 나무 한곳에 몰려 화면이 겹쳐 보였는데, 가까운 나무 몇 개 중 덜 붐비는 곳을 고르고, 나무 중심이 아니라 둘레의 자기 자리로 가게 해서 번식 조건은 유지하면서 군집 문제를 해결했습니다. 번식 메서드는 type(self)로 자기와 같은 종을 생성하기 때문에 토끼는 토끼를, 기린은 기린을 낳고, 자식 클래스마다 번식 코드를 다시 쓸 필요가 없습니다. 토끼는 위험하면 근처 풀숲에 숨는 hide 능력이 있는데, 숨는 동안 포식자에게 보이지 않고, 풀 하나에 숨을 수 있는 토끼 수에 한계를 둬 현실성을 살렸습니다. 기린은 넥스윙으로 포식자를 밀쳐내며 피해를 주는데, 같은 메서드가 기린끼리의 싸움에도 재사용됩니다. 식물 쪽에서는 풀이 be_eaten 메서드로 자기 먹이량을 스스로 관리하고 다 뜯기면 120틱 뒤 다시 자라며, 나무는 모든 번식이 일어나는 만남의 장소가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영상 재생(2분 이내). 영상에는 실행→모든 상호작용→번식→일시정지·재시작→트랙터 재난→종료 화면까지 전 기능이 담겨 있다. 능력 발동은 무작위이므로 여러 테이크 중 베스트를 사용.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객체지향 설계(상속·템플릿 메서드), 인터페이스 우선 협업, 관찰 기반 밸런싱. 질의응답.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D1F"/>
        </a:solidFill>
      </p:bgPr>
    </p:bg>
    <p:spTree>
      <p:nvGrpSpPr>
        <p:cNvPr id="1" name=""/>
        <p:cNvGrpSpPr/>
        <p:nvPr/>
      </p:nvGrpSpPr>
      <p:grpSpPr>
        <a:xfrm>
          <a:off x="0" y="0"/>
          <a:ext cx="0" cy="0"/>
          <a:chOff x="0" y="0"/>
          <a:chExt cx="0" cy="0"/>
        </a:xfrm>
      </p:grpSpPr>
      <p:sp>
        <p:nvSpPr>
          <p:cNvPr id="2" name="Shape 0"/>
          <p:cNvSpPr/>
          <p:nvPr/>
        </p:nvSpPr>
        <p:spPr>
          <a:xfrm>
            <a:off x="0" y="4160520"/>
            <a:ext cx="9144000" cy="982980"/>
          </a:xfrm>
          <a:prstGeom prst="rect">
            <a:avLst/>
          </a:prstGeom>
          <a:solidFill>
            <a:srgbClr val="2C5F2D"/>
          </a:solidFill>
          <a:ln/>
        </p:spPr>
      </p:sp>
      <p:sp>
        <p:nvSpPr>
          <p:cNvPr id="3" name="Text 1"/>
          <p:cNvSpPr/>
          <p:nvPr/>
        </p:nvSpPr>
        <p:spPr>
          <a:xfrm>
            <a:off x="457200" y="685800"/>
            <a:ext cx="8229600" cy="548640"/>
          </a:xfrm>
          <a:prstGeom prst="rect">
            <a:avLst/>
          </a:prstGeom>
          <a:noFill/>
          <a:ln/>
        </p:spPr>
        <p:txBody>
          <a:bodyPr wrap="square" rtlCol="0" anchor="ctr"/>
          <a:lstStyle/>
          <a:p>
            <a:pPr algn="ctr" indent="0" marL="0">
              <a:buNone/>
            </a:pPr>
            <a:r>
              <a:rPr lang="en-US" sz="2800" dirty="0">
                <a:solidFill>
                  <a:srgbClr val="000000"/>
                </a:solidFill>
                <a:latin typeface="Apple SD Gothic Neo" pitchFamily="34" charset="0"/>
                <a:ea typeface="Apple SD Gothic Neo" pitchFamily="34" charset="-122"/>
                <a:cs typeface="Apple SD Gothic Neo" pitchFamily="34" charset="-120"/>
              </a:rPr>
              <a:t>🦁 🦓 🦒 🐘 🌳</a:t>
            </a:r>
            <a:endParaRPr lang="en-US" sz="2800" dirty="0"/>
          </a:p>
        </p:txBody>
      </p:sp>
      <p:sp>
        <p:nvSpPr>
          <p:cNvPr id="4" name="Text 2"/>
          <p:cNvSpPr/>
          <p:nvPr/>
        </p:nvSpPr>
        <p:spPr>
          <a:xfrm>
            <a:off x="457200" y="1371600"/>
            <a:ext cx="8229600" cy="822960"/>
          </a:xfrm>
          <a:prstGeom prst="rect">
            <a:avLst/>
          </a:prstGeom>
          <a:noFill/>
          <a:ln/>
        </p:spPr>
        <p:txBody>
          <a:bodyPr wrap="square" rtlCol="0" anchor="ctr"/>
          <a:lstStyle/>
          <a:p>
            <a:pPr algn="ctr" indent="0" marL="0">
              <a:buNone/>
            </a:pPr>
            <a:r>
              <a:rPr lang="en-US" sz="4400" b="1" dirty="0">
                <a:solidFill>
                  <a:srgbClr val="FFFFFF"/>
                </a:solidFill>
                <a:latin typeface="Apple SD Gothic Neo" pitchFamily="34" charset="0"/>
                <a:ea typeface="Apple SD Gothic Neo" pitchFamily="34" charset="-122"/>
                <a:cs typeface="Apple SD Gothic Neo" pitchFamily="34" charset="-120"/>
              </a:rPr>
              <a:t>심심한 초원의 제왕</a:t>
            </a:r>
            <a:endParaRPr lang="en-US" sz="4400" dirty="0"/>
          </a:p>
        </p:txBody>
      </p:sp>
      <p:sp>
        <p:nvSpPr>
          <p:cNvPr id="5" name="Text 3"/>
          <p:cNvSpPr/>
          <p:nvPr/>
        </p:nvSpPr>
        <p:spPr>
          <a:xfrm>
            <a:off x="457200" y="2240280"/>
            <a:ext cx="8229600" cy="457200"/>
          </a:xfrm>
          <a:prstGeom prst="rect">
            <a:avLst/>
          </a:prstGeom>
          <a:noFill/>
          <a:ln/>
        </p:spPr>
        <p:txBody>
          <a:bodyPr wrap="square" rtlCol="0" anchor="ctr"/>
          <a:lstStyle/>
          <a:p>
            <a:pPr algn="ctr" indent="0" marL="0">
              <a:buNone/>
            </a:pPr>
            <a:r>
              <a:rPr lang="en-US" sz="2000" dirty="0">
                <a:solidFill>
                  <a:srgbClr val="C9DBA3"/>
                </a:solidFill>
                <a:latin typeface="Apple SD Gothic Neo" pitchFamily="34" charset="0"/>
                <a:ea typeface="Apple SD Gothic Neo" pitchFamily="34" charset="-122"/>
                <a:cs typeface="Apple SD Gothic Neo" pitchFamily="34" charset="-120"/>
              </a:rPr>
              <a:t>초원(Savanna) 생태계 시뮬레이션</a:t>
            </a:r>
            <a:endParaRPr lang="en-US" sz="2000" dirty="0"/>
          </a:p>
        </p:txBody>
      </p:sp>
      <p:sp>
        <p:nvSpPr>
          <p:cNvPr id="6" name="Text 4"/>
          <p:cNvSpPr/>
          <p:nvPr/>
        </p:nvSpPr>
        <p:spPr>
          <a:xfrm>
            <a:off x="457200" y="2880360"/>
            <a:ext cx="8229600" cy="365760"/>
          </a:xfrm>
          <a:prstGeom prst="rect">
            <a:avLst/>
          </a:prstGeom>
          <a:noFill/>
          <a:ln/>
        </p:spPr>
        <p:txBody>
          <a:bodyPr wrap="square" rtlCol="0" anchor="ctr"/>
          <a:lstStyle/>
          <a:p>
            <a:pPr algn="ctr" indent="0" marL="0">
              <a:buNone/>
            </a:pPr>
            <a:r>
              <a:rPr lang="en-US" sz="1400" dirty="0">
                <a:solidFill>
                  <a:srgbClr val="9FB58B"/>
                </a:solidFill>
                <a:latin typeface="Apple SD Gothic Neo" pitchFamily="34" charset="0"/>
                <a:ea typeface="Apple SD Gothic Neo" pitchFamily="34" charset="-122"/>
                <a:cs typeface="Apple SD Gothic Neo" pitchFamily="34" charset="-120"/>
              </a:rPr>
              <a:t>2026 컴퓨터과학1 프로젝트  ·  네이처 빌더</a:t>
            </a:r>
            <a:endParaRPr lang="en-US" sz="1400" dirty="0"/>
          </a:p>
        </p:txBody>
      </p:sp>
      <p:sp>
        <p:nvSpPr>
          <p:cNvPr id="7" name="Text 5"/>
          <p:cNvSpPr/>
          <p:nvPr/>
        </p:nvSpPr>
        <p:spPr>
          <a:xfrm>
            <a:off x="457200" y="4343400"/>
            <a:ext cx="8229600" cy="548640"/>
          </a:xfrm>
          <a:prstGeom prst="rect">
            <a:avLst/>
          </a:prstGeom>
          <a:noFill/>
          <a:ln/>
        </p:spPr>
        <p:txBody>
          <a:bodyPr wrap="square" rtlCol="0" anchor="ctr"/>
          <a:lstStyle/>
          <a:p>
            <a:pPr algn="ctr" indent="0" marL="0">
              <a:buNone/>
            </a:pPr>
            <a:r>
              <a:rPr lang="en-US" sz="1600" b="1" dirty="0">
                <a:solidFill>
                  <a:srgbClr val="FFFFFF"/>
                </a:solidFill>
                <a:latin typeface="Apple SD Gothic Neo" pitchFamily="34" charset="0"/>
                <a:ea typeface="Apple SD Gothic Neo" pitchFamily="34" charset="-122"/>
                <a:cs typeface="Apple SD Gothic Neo" pitchFamily="34" charset="-120"/>
              </a:rPr>
              <a:t>홍순율  ·  심성진  ·  심준서  ·  한시헌</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0"/>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600" b="1" dirty="0">
                <a:solidFill>
                  <a:srgbClr val="1E3D1F"/>
                </a:solidFill>
                <a:latin typeface="Apple SD Gothic Neo" pitchFamily="34" charset="0"/>
                <a:ea typeface="Apple SD Gothic Neo" pitchFamily="34" charset="-122"/>
                <a:cs typeface="Apple SD Gothic Neo" pitchFamily="34" charset="-120"/>
              </a:rPr>
              <a:t>프로젝트 개요</a:t>
            </a:r>
            <a:endParaRPr lang="en-US" sz="2600" dirty="0"/>
          </a:p>
        </p:txBody>
      </p:sp>
      <p:sp>
        <p:nvSpPr>
          <p:cNvPr id="3" name="Text 1"/>
          <p:cNvSpPr/>
          <p:nvPr/>
        </p:nvSpPr>
        <p:spPr>
          <a:xfrm>
            <a:off x="457200" y="658368"/>
            <a:ext cx="8229600" cy="274320"/>
          </a:xfrm>
          <a:prstGeom prst="rect">
            <a:avLst/>
          </a:prstGeom>
          <a:noFill/>
          <a:ln/>
        </p:spPr>
        <p:txBody>
          <a:bodyPr wrap="square" lIns="0" tIns="0" rIns="0" bIns="0" rtlCol="0" anchor="ctr"/>
          <a:lstStyle/>
          <a:p>
            <a:pPr indent="0" marL="0">
              <a:buNone/>
            </a:pPr>
            <a:r>
              <a:rPr lang="en-US" sz="1200" dirty="0">
                <a:solidFill>
                  <a:srgbClr val="5C6B52"/>
                </a:solidFill>
                <a:latin typeface="Apple SD Gothic Neo" pitchFamily="34" charset="0"/>
                <a:ea typeface="Apple SD Gothic Neo" pitchFamily="34" charset="-122"/>
                <a:cs typeface="Apple SD Gothic Neo" pitchFamily="34" charset="-120"/>
              </a:rPr>
              <a:t>객체지향으로 만든 '살아 있는 초원' — 시간의 흐름에 따라 변화하는 생태계</a:t>
            </a:r>
            <a:endParaRPr lang="en-US" sz="1200" dirty="0"/>
          </a:p>
        </p:txBody>
      </p:sp>
      <p:sp>
        <p:nvSpPr>
          <p:cNvPr id="4" name="Shape 2"/>
          <p:cNvSpPr/>
          <p:nvPr/>
        </p:nvSpPr>
        <p:spPr>
          <a:xfrm>
            <a:off x="457200" y="1051560"/>
            <a:ext cx="4937760" cy="361188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5" name="Text 3"/>
          <p:cNvSpPr/>
          <p:nvPr/>
        </p:nvSpPr>
        <p:spPr>
          <a:xfrm>
            <a:off x="685800" y="1280160"/>
            <a:ext cx="4480560" cy="3200400"/>
          </a:xfrm>
          <a:prstGeom prst="rect">
            <a:avLst/>
          </a:prstGeom>
          <a:noFill/>
          <a:ln/>
        </p:spPr>
        <p:txBody>
          <a:bodyPr wrap="square" lIns="0" tIns="0" rIns="0" bIns="0" rtlCol="0" anchor="t"/>
          <a:lstStyle/>
          <a:p>
            <a:pPr indent="0" marL="0">
              <a:spcAft>
                <a:spcPts val="600"/>
              </a:spcAft>
              <a:buNone/>
            </a:pPr>
            <a:r>
              <a:rPr lang="en-US" sz="1500" b="1" dirty="0">
                <a:solidFill>
                  <a:srgbClr val="2C5F2D"/>
                </a:solidFill>
                <a:latin typeface="Apple SD Gothic Neo" pitchFamily="34" charset="0"/>
                <a:ea typeface="Apple SD Gothic Neo" pitchFamily="34" charset="-122"/>
                <a:cs typeface="Apple SD Gothic Neo" pitchFamily="34" charset="-120"/>
              </a:rPr>
              <a:t>무엇을 만들었나</a:t>
            </a:r>
            <a:endParaRPr lang="en-US" sz="1500" dirty="0"/>
          </a:p>
          <a:p>
            <a:pPr indent="0" marL="0">
              <a:spcAft>
                <a:spcPts val="1000"/>
              </a:spcAft>
              <a:buNone/>
            </a:pPr>
            <a:r>
              <a:rPr lang="en-US" sz="1250" dirty="0">
                <a:solidFill>
                  <a:srgbClr val="26331F"/>
                </a:solidFill>
                <a:latin typeface="Apple SD Gothic Neo" pitchFamily="34" charset="0"/>
                <a:ea typeface="Apple SD Gothic Neo" pitchFamily="34" charset="-122"/>
                <a:cs typeface="Apple SD Gothic Neo" pitchFamily="34" charset="-120"/>
              </a:rPr>
              <a:t>풀·나무 위에서 초식동물 4종과 육식동물 3종이 먹고, 도망치고, 능력으로 맞서고, 나무 근처에서 번식하는 초원 생태계를 시뮬레이션합니다.</a:t>
            </a:r>
            <a:endParaRPr lang="en-US" sz="1500" dirty="0"/>
          </a:p>
          <a:p>
            <a:pPr indent="0" marL="0">
              <a:spcAft>
                <a:spcPts val="600"/>
              </a:spcAft>
              <a:buNone/>
            </a:pPr>
            <a:r>
              <a:rPr lang="en-US" sz="1500" b="1" dirty="0">
                <a:solidFill>
                  <a:srgbClr val="2C5F2D"/>
                </a:solidFill>
                <a:latin typeface="Apple SD Gothic Neo" pitchFamily="34" charset="0"/>
                <a:ea typeface="Apple SD Gothic Neo" pitchFamily="34" charset="-122"/>
                <a:cs typeface="Apple SD Gothic Neo" pitchFamily="34" charset="-120"/>
              </a:rPr>
              <a:t>어떻게 만들었나</a:t>
            </a:r>
            <a:endParaRPr lang="en-US" sz="1500" dirty="0"/>
          </a:p>
          <a:p>
            <a:pPr indent="0" marL="0">
              <a:spcAft>
                <a:spcPts val="1000"/>
              </a:spcAft>
              <a:buNone/>
            </a:pPr>
            <a:r>
              <a:rPr lang="en-US" sz="1250" dirty="0">
                <a:solidFill>
                  <a:srgbClr val="26331F"/>
                </a:solidFill>
                <a:latin typeface="Apple SD Gothic Neo" pitchFamily="34" charset="0"/>
                <a:ea typeface="Apple SD Gothic Neo" pitchFamily="34" charset="-122"/>
                <a:cs typeface="Apple SD Gothic Neo" pitchFamily="34" charset="-120"/>
              </a:rPr>
              <a:t>GUI(tkinter)·물리엔진·생물 행동까지 전부 파이썬 표준 라이브러리만으로 직접 구현했습니다.</a:t>
            </a:r>
            <a:endParaRPr lang="en-US" sz="1500" dirty="0"/>
          </a:p>
          <a:p>
            <a:pPr indent="0" marL="0">
              <a:spcAft>
                <a:spcPts val="600"/>
              </a:spcAft>
              <a:buNone/>
            </a:pPr>
            <a:r>
              <a:rPr lang="en-US" sz="1500" b="1" dirty="0">
                <a:solidFill>
                  <a:srgbClr val="2C5F2D"/>
                </a:solidFill>
                <a:latin typeface="Apple SD Gothic Neo" pitchFamily="34" charset="0"/>
                <a:ea typeface="Apple SD Gothic Neo" pitchFamily="34" charset="-122"/>
                <a:cs typeface="Apple SD Gothic Neo" pitchFamily="34" charset="-120"/>
              </a:rPr>
              <a:t>어떻게 끝나나</a:t>
            </a:r>
            <a:endParaRPr lang="en-US" sz="1500" dirty="0"/>
          </a:p>
          <a:p>
            <a:pPr indent="0" marL="0">
              <a:buNone/>
            </a:pPr>
            <a:r>
              <a:rPr lang="en-US" sz="1250" dirty="0">
                <a:solidFill>
                  <a:srgbClr val="26331F"/>
                </a:solidFill>
                <a:latin typeface="Apple SD Gothic Neo" pitchFamily="34" charset="0"/>
                <a:ea typeface="Apple SD Gothic Neo" pitchFamily="34" charset="-122"/>
                <a:cs typeface="Apple SD Gothic Neo" pitchFamily="34" charset="-120"/>
              </a:rPr>
              <a:t>[D]키를 누르면 거대한 트랙터 무리가 초원을 통째로 밀어버리는 재난으로 종료됩니다. 재난 없이 동물이 전멸해도 '자연 붕괴'로 끝납니다.</a:t>
            </a:r>
            <a:endParaRPr lang="en-US" sz="1500" dirty="0"/>
          </a:p>
        </p:txBody>
      </p:sp>
      <p:sp>
        <p:nvSpPr>
          <p:cNvPr id="6" name="Shape 4"/>
          <p:cNvSpPr/>
          <p:nvPr/>
        </p:nvSpPr>
        <p:spPr>
          <a:xfrm>
            <a:off x="5669280" y="1051560"/>
            <a:ext cx="1554480" cy="173736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7" name="Text 5"/>
          <p:cNvSpPr/>
          <p:nvPr/>
        </p:nvSpPr>
        <p:spPr>
          <a:xfrm>
            <a:off x="5669280" y="1325880"/>
            <a:ext cx="1554480" cy="640080"/>
          </a:xfrm>
          <a:prstGeom prst="rect">
            <a:avLst/>
          </a:prstGeom>
          <a:noFill/>
          <a:ln/>
        </p:spPr>
        <p:txBody>
          <a:bodyPr wrap="square" rtlCol="0" anchor="ctr"/>
          <a:lstStyle/>
          <a:p>
            <a:pPr algn="ctr" indent="0" marL="0">
              <a:buNone/>
            </a:pPr>
            <a:r>
              <a:rPr lang="en-US" sz="3000" b="1" dirty="0">
                <a:solidFill>
                  <a:srgbClr val="E07A2F"/>
                </a:solidFill>
                <a:latin typeface="Apple SD Gothic Neo" pitchFamily="34" charset="0"/>
                <a:ea typeface="Apple SD Gothic Neo" pitchFamily="34" charset="-122"/>
                <a:cs typeface="Apple SD Gothic Neo" pitchFamily="34" charset="-120"/>
              </a:rPr>
              <a:t>0개</a:t>
            </a:r>
            <a:endParaRPr lang="en-US" sz="3000" dirty="0"/>
          </a:p>
        </p:txBody>
      </p:sp>
      <p:sp>
        <p:nvSpPr>
          <p:cNvPr id="8" name="Text 6"/>
          <p:cNvSpPr/>
          <p:nvPr/>
        </p:nvSpPr>
        <p:spPr>
          <a:xfrm>
            <a:off x="5779008" y="2011680"/>
            <a:ext cx="1335024" cy="640080"/>
          </a:xfrm>
          <a:prstGeom prst="rect">
            <a:avLst/>
          </a:prstGeom>
          <a:noFill/>
          <a:ln/>
        </p:spPr>
        <p:txBody>
          <a:bodyPr wrap="square" rtlCol="0" anchor="ctr"/>
          <a:lstStyle/>
          <a:p>
            <a:pPr algn="ctr" indent="0" marL="0">
              <a:buNone/>
            </a:pPr>
            <a:r>
              <a:rPr lang="en-US" sz="1050" dirty="0">
                <a:solidFill>
                  <a:srgbClr val="5C6B52"/>
                </a:solidFill>
                <a:latin typeface="Apple SD Gothic Neo" pitchFamily="34" charset="0"/>
                <a:ea typeface="Apple SD Gothic Neo" pitchFamily="34" charset="-122"/>
                <a:cs typeface="Apple SD Gothic Neo" pitchFamily="34" charset="-120"/>
              </a:rPr>
              <a:t>외부 라이브러리 (100% 표준)</a:t>
            </a:r>
            <a:endParaRPr lang="en-US" sz="1050" dirty="0"/>
          </a:p>
        </p:txBody>
      </p:sp>
      <p:sp>
        <p:nvSpPr>
          <p:cNvPr id="9" name="Shape 7"/>
          <p:cNvSpPr/>
          <p:nvPr/>
        </p:nvSpPr>
        <p:spPr>
          <a:xfrm>
            <a:off x="7360920" y="1051560"/>
            <a:ext cx="1554480" cy="173736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0" name="Text 8"/>
          <p:cNvSpPr/>
          <p:nvPr/>
        </p:nvSpPr>
        <p:spPr>
          <a:xfrm>
            <a:off x="7360920" y="1325880"/>
            <a:ext cx="1554480" cy="640080"/>
          </a:xfrm>
          <a:prstGeom prst="rect">
            <a:avLst/>
          </a:prstGeom>
          <a:noFill/>
          <a:ln/>
        </p:spPr>
        <p:txBody>
          <a:bodyPr wrap="square" rtlCol="0" anchor="ctr"/>
          <a:lstStyle/>
          <a:p>
            <a:pPr algn="ctr" indent="0" marL="0">
              <a:buNone/>
            </a:pPr>
            <a:r>
              <a:rPr lang="en-US" sz="3000" b="1" dirty="0">
                <a:solidFill>
                  <a:srgbClr val="E07A2F"/>
                </a:solidFill>
                <a:latin typeface="Apple SD Gothic Neo" pitchFamily="34" charset="0"/>
                <a:ea typeface="Apple SD Gothic Neo" pitchFamily="34" charset="-122"/>
                <a:cs typeface="Apple SD Gothic Neo" pitchFamily="34" charset="-120"/>
              </a:rPr>
              <a:t>9종</a:t>
            </a:r>
            <a:endParaRPr lang="en-US" sz="3000" dirty="0"/>
          </a:p>
        </p:txBody>
      </p:sp>
      <p:sp>
        <p:nvSpPr>
          <p:cNvPr id="11" name="Text 9"/>
          <p:cNvSpPr/>
          <p:nvPr/>
        </p:nvSpPr>
        <p:spPr>
          <a:xfrm>
            <a:off x="7470648" y="2011680"/>
            <a:ext cx="1335024" cy="640080"/>
          </a:xfrm>
          <a:prstGeom prst="rect">
            <a:avLst/>
          </a:prstGeom>
          <a:noFill/>
          <a:ln/>
        </p:spPr>
        <p:txBody>
          <a:bodyPr wrap="square" rtlCol="0" anchor="ctr"/>
          <a:lstStyle/>
          <a:p>
            <a:pPr algn="ctr" indent="0" marL="0">
              <a:buNone/>
            </a:pPr>
            <a:r>
              <a:rPr lang="en-US" sz="1050" dirty="0">
                <a:solidFill>
                  <a:srgbClr val="5C6B52"/>
                </a:solidFill>
                <a:latin typeface="Apple SD Gothic Neo" pitchFamily="34" charset="0"/>
                <a:ea typeface="Apple SD Gothic Neo" pitchFamily="34" charset="-122"/>
                <a:cs typeface="Apple SD Gothic Neo" pitchFamily="34" charset="-120"/>
              </a:rPr>
              <a:t>생물 (초식 4 · 육식 3 · 식물 2)</a:t>
            </a:r>
            <a:endParaRPr lang="en-US" sz="1050" dirty="0"/>
          </a:p>
        </p:txBody>
      </p:sp>
      <p:sp>
        <p:nvSpPr>
          <p:cNvPr id="12" name="Shape 10"/>
          <p:cNvSpPr/>
          <p:nvPr/>
        </p:nvSpPr>
        <p:spPr>
          <a:xfrm>
            <a:off x="5669280" y="2907792"/>
            <a:ext cx="1554480" cy="173736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3" name="Text 11"/>
          <p:cNvSpPr/>
          <p:nvPr/>
        </p:nvSpPr>
        <p:spPr>
          <a:xfrm>
            <a:off x="5669280" y="3182112"/>
            <a:ext cx="1554480" cy="640080"/>
          </a:xfrm>
          <a:prstGeom prst="rect">
            <a:avLst/>
          </a:prstGeom>
          <a:noFill/>
          <a:ln/>
        </p:spPr>
        <p:txBody>
          <a:bodyPr wrap="square" rtlCol="0" anchor="ctr"/>
          <a:lstStyle/>
          <a:p>
            <a:pPr algn="ctr" indent="0" marL="0">
              <a:buNone/>
            </a:pPr>
            <a:r>
              <a:rPr lang="en-US" sz="3000" b="1" dirty="0">
                <a:solidFill>
                  <a:srgbClr val="E07A2F"/>
                </a:solidFill>
                <a:latin typeface="Apple SD Gothic Neo" pitchFamily="34" charset="0"/>
                <a:ea typeface="Apple SD Gothic Neo" pitchFamily="34" charset="-122"/>
                <a:cs typeface="Apple SD Gothic Neo" pitchFamily="34" charset="-120"/>
              </a:rPr>
              <a:t>8가지</a:t>
            </a:r>
            <a:endParaRPr lang="en-US" sz="3000" dirty="0"/>
          </a:p>
        </p:txBody>
      </p:sp>
      <p:sp>
        <p:nvSpPr>
          <p:cNvPr id="14" name="Text 12"/>
          <p:cNvSpPr/>
          <p:nvPr/>
        </p:nvSpPr>
        <p:spPr>
          <a:xfrm>
            <a:off x="5779008" y="3867912"/>
            <a:ext cx="1335024" cy="640080"/>
          </a:xfrm>
          <a:prstGeom prst="rect">
            <a:avLst/>
          </a:prstGeom>
          <a:noFill/>
          <a:ln/>
        </p:spPr>
        <p:txBody>
          <a:bodyPr wrap="square" rtlCol="0" anchor="ctr"/>
          <a:lstStyle/>
          <a:p>
            <a:pPr algn="ctr" indent="0" marL="0">
              <a:buNone/>
            </a:pPr>
            <a:r>
              <a:rPr lang="en-US" sz="1050" dirty="0">
                <a:solidFill>
                  <a:srgbClr val="5C6B52"/>
                </a:solidFill>
                <a:latin typeface="Apple SD Gothic Neo" pitchFamily="34" charset="0"/>
                <a:ea typeface="Apple SD Gothic Neo" pitchFamily="34" charset="-122"/>
                <a:cs typeface="Apple SD Gothic Neo" pitchFamily="34" charset="-120"/>
              </a:rPr>
              <a:t>동물 간 상호작용 + 재난</a:t>
            </a:r>
            <a:endParaRPr lang="en-US" sz="1050" dirty="0"/>
          </a:p>
        </p:txBody>
      </p:sp>
      <p:sp>
        <p:nvSpPr>
          <p:cNvPr id="15" name="Shape 13"/>
          <p:cNvSpPr/>
          <p:nvPr/>
        </p:nvSpPr>
        <p:spPr>
          <a:xfrm>
            <a:off x="7360920" y="2907792"/>
            <a:ext cx="1554480" cy="173736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6" name="Text 14"/>
          <p:cNvSpPr/>
          <p:nvPr/>
        </p:nvSpPr>
        <p:spPr>
          <a:xfrm>
            <a:off x="7360920" y="3182112"/>
            <a:ext cx="1554480" cy="640080"/>
          </a:xfrm>
          <a:prstGeom prst="rect">
            <a:avLst/>
          </a:prstGeom>
          <a:noFill/>
          <a:ln/>
        </p:spPr>
        <p:txBody>
          <a:bodyPr wrap="square" rtlCol="0" anchor="ctr"/>
          <a:lstStyle/>
          <a:p>
            <a:pPr algn="ctr" indent="0" marL="0">
              <a:buNone/>
            </a:pPr>
            <a:r>
              <a:rPr lang="en-US" sz="3000" b="1" dirty="0">
                <a:solidFill>
                  <a:srgbClr val="E07A2F"/>
                </a:solidFill>
                <a:latin typeface="Apple SD Gothic Neo" pitchFamily="34" charset="0"/>
                <a:ea typeface="Apple SD Gothic Neo" pitchFamily="34" charset="-122"/>
                <a:cs typeface="Apple SD Gothic Neo" pitchFamily="34" charset="-120"/>
              </a:rPr>
              <a:t>12개</a:t>
            </a:r>
            <a:endParaRPr lang="en-US" sz="3000" dirty="0"/>
          </a:p>
        </p:txBody>
      </p:sp>
      <p:sp>
        <p:nvSpPr>
          <p:cNvPr id="17" name="Text 15"/>
          <p:cNvSpPr/>
          <p:nvPr/>
        </p:nvSpPr>
        <p:spPr>
          <a:xfrm>
            <a:off x="7470648" y="3867912"/>
            <a:ext cx="1335024" cy="640080"/>
          </a:xfrm>
          <a:prstGeom prst="rect">
            <a:avLst/>
          </a:prstGeom>
          <a:noFill/>
          <a:ln/>
        </p:spPr>
        <p:txBody>
          <a:bodyPr wrap="square" rtlCol="0" anchor="ctr"/>
          <a:lstStyle/>
          <a:p>
            <a:pPr algn="ctr" indent="0" marL="0">
              <a:buNone/>
            </a:pPr>
            <a:r>
              <a:rPr lang="en-US" sz="1050" dirty="0">
                <a:solidFill>
                  <a:srgbClr val="5C6B52"/>
                </a:solidFill>
                <a:latin typeface="Apple SD Gothic Neo" pitchFamily="34" charset="0"/>
                <a:ea typeface="Apple SD Gothic Neo" pitchFamily="34" charset="-122"/>
                <a:cs typeface="Apple SD Gothic Neo" pitchFamily="34" charset="-120"/>
              </a:rPr>
              <a:t>파이썬 모듈 (역할 분담)</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0"/>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600" b="1" dirty="0">
                <a:solidFill>
                  <a:srgbClr val="1E3D1F"/>
                </a:solidFill>
                <a:latin typeface="Apple SD Gothic Neo" pitchFamily="34" charset="0"/>
                <a:ea typeface="Apple SD Gothic Neo" pitchFamily="34" charset="-122"/>
                <a:cs typeface="Apple SD Gothic Neo" pitchFamily="34" charset="-120"/>
              </a:rPr>
              <a:t>클래스 다이어그램 — 상속 구조</a:t>
            </a:r>
            <a:endParaRPr lang="en-US" sz="2600" dirty="0"/>
          </a:p>
        </p:txBody>
      </p:sp>
      <p:sp>
        <p:nvSpPr>
          <p:cNvPr id="3" name="Shape 1"/>
          <p:cNvSpPr/>
          <p:nvPr/>
        </p:nvSpPr>
        <p:spPr>
          <a:xfrm>
            <a:off x="3703320" y="914400"/>
            <a:ext cx="1737360" cy="566928"/>
          </a:xfrm>
          <a:prstGeom prst="rect">
            <a:avLst/>
          </a:prstGeom>
          <a:solidFill>
            <a:srgbClr val="2C5F2D"/>
          </a:solidFill>
          <a:ln w="9525">
            <a:solidFill>
              <a:srgbClr val="1E3D1F"/>
            </a:solidFill>
            <a:prstDash val="solid"/>
          </a:ln>
        </p:spPr>
      </p:sp>
      <p:sp>
        <p:nvSpPr>
          <p:cNvPr id="4" name="Text 2"/>
          <p:cNvSpPr/>
          <p:nvPr/>
        </p:nvSpPr>
        <p:spPr>
          <a:xfrm>
            <a:off x="3703320" y="914400"/>
            <a:ext cx="1737360" cy="566928"/>
          </a:xfrm>
          <a:prstGeom prst="rect">
            <a:avLst/>
          </a:prstGeom>
          <a:noFill/>
          <a:ln/>
        </p:spPr>
        <p:txBody>
          <a:bodyPr wrap="square" lIns="254" tIns="254" rIns="254" bIns="254" rtlCol="0" anchor="ctr"/>
          <a:lstStyle/>
          <a:p>
            <a:pPr algn="ctr" indent="0" marL="0">
              <a:lnSpc>
                <a:spcPct val="95000"/>
              </a:lnSpc>
              <a:buNone/>
            </a:pPr>
            <a:r>
              <a:rPr lang="en-US" sz="1100" b="1" dirty="0">
                <a:solidFill>
                  <a:srgbClr val="FFFFFF"/>
                </a:solidFill>
                <a:latin typeface="Apple SD Gothic Neo" pitchFamily="34" charset="0"/>
                <a:ea typeface="Apple SD Gothic Neo" pitchFamily="34" charset="-122"/>
                <a:cs typeface="Apple SD Gothic Neo" pitchFamily="34" charset="-120"/>
              </a:rPr>
              <a:t>Entity (추상)</a:t>
            </a:r>
            <a:endParaRPr lang="en-US" sz="110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place · alive · update()*</a:t>
            </a:r>
            <a:endParaRPr lang="en-US" sz="1100" dirty="0"/>
          </a:p>
        </p:txBody>
      </p:sp>
      <p:sp>
        <p:nvSpPr>
          <p:cNvPr id="5" name="Shape 3"/>
          <p:cNvSpPr/>
          <p:nvPr/>
        </p:nvSpPr>
        <p:spPr>
          <a:xfrm>
            <a:off x="914400" y="914400"/>
            <a:ext cx="1600200" cy="566928"/>
          </a:xfrm>
          <a:prstGeom prst="rect">
            <a:avLst/>
          </a:prstGeom>
          <a:solidFill>
            <a:srgbClr val="44617B"/>
          </a:solidFill>
          <a:ln w="9525">
            <a:solidFill>
              <a:srgbClr val="1E3D1F"/>
            </a:solidFill>
            <a:prstDash val="solid"/>
          </a:ln>
        </p:spPr>
      </p:sp>
      <p:sp>
        <p:nvSpPr>
          <p:cNvPr id="6" name="Text 4"/>
          <p:cNvSpPr/>
          <p:nvPr/>
        </p:nvSpPr>
        <p:spPr>
          <a:xfrm>
            <a:off x="914400" y="914400"/>
            <a:ext cx="1600200" cy="566928"/>
          </a:xfrm>
          <a:prstGeom prst="rect">
            <a:avLst/>
          </a:prstGeom>
          <a:noFill/>
          <a:ln/>
        </p:spPr>
        <p:txBody>
          <a:bodyPr wrap="square" lIns="254" tIns="254" rIns="254" bIns="254" rtlCol="0" anchor="ctr"/>
          <a:lstStyle/>
          <a:p>
            <a:pPr algn="ctr" indent="0" marL="0">
              <a:lnSpc>
                <a:spcPct val="95000"/>
              </a:lnSpc>
              <a:buNone/>
            </a:pPr>
            <a:r>
              <a:rPr lang="en-US" sz="1100" b="1" dirty="0">
                <a:solidFill>
                  <a:srgbClr val="FFFFFF"/>
                </a:solidFill>
                <a:latin typeface="Apple SD Gothic Neo" pitchFamily="34" charset="0"/>
                <a:ea typeface="Apple SD Gothic Neo" pitchFamily="34" charset="-122"/>
                <a:cs typeface="Apple SD Gothic Neo" pitchFamily="34" charset="-120"/>
              </a:rPr>
              <a:t>Tractor 🚜</a:t>
            </a:r>
            <a:endParaRPr lang="en-US" sz="110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disaster.py · 재난</a:t>
            </a:r>
            <a:endParaRPr lang="en-US" sz="1100" dirty="0"/>
          </a:p>
        </p:txBody>
      </p:sp>
      <p:sp>
        <p:nvSpPr>
          <p:cNvPr id="7" name="Shape 5"/>
          <p:cNvSpPr/>
          <p:nvPr/>
        </p:nvSpPr>
        <p:spPr>
          <a:xfrm>
            <a:off x="2514600" y="1197864"/>
            <a:ext cx="1188720" cy="0"/>
          </a:xfrm>
          <a:prstGeom prst="line">
            <a:avLst/>
          </a:prstGeom>
          <a:noFill/>
          <a:ln w="15875">
            <a:solidFill>
              <a:srgbClr val="7A8F6A"/>
            </a:solidFill>
            <a:prstDash val="solid"/>
          </a:ln>
        </p:spPr>
      </p:sp>
      <p:sp>
        <p:nvSpPr>
          <p:cNvPr id="8" name="Shape 6"/>
          <p:cNvSpPr/>
          <p:nvPr/>
        </p:nvSpPr>
        <p:spPr>
          <a:xfrm>
            <a:off x="3017520" y="1847088"/>
            <a:ext cx="1920240" cy="603504"/>
          </a:xfrm>
          <a:prstGeom prst="rect">
            <a:avLst/>
          </a:prstGeom>
          <a:solidFill>
            <a:srgbClr val="2C5F2D"/>
          </a:solidFill>
          <a:ln w="9525">
            <a:solidFill>
              <a:srgbClr val="1E3D1F"/>
            </a:solidFill>
            <a:prstDash val="solid"/>
          </a:ln>
        </p:spPr>
      </p:sp>
      <p:sp>
        <p:nvSpPr>
          <p:cNvPr id="9" name="Text 7"/>
          <p:cNvSpPr/>
          <p:nvPr/>
        </p:nvSpPr>
        <p:spPr>
          <a:xfrm>
            <a:off x="3017520" y="1847088"/>
            <a:ext cx="1920240" cy="603504"/>
          </a:xfrm>
          <a:prstGeom prst="rect">
            <a:avLst/>
          </a:prstGeom>
          <a:noFill/>
          <a:ln/>
        </p:spPr>
        <p:txBody>
          <a:bodyPr wrap="square" lIns="254" tIns="254" rIns="254" bIns="254" rtlCol="0" anchor="ctr"/>
          <a:lstStyle/>
          <a:p>
            <a:pPr algn="ctr" indent="0" marL="0">
              <a:lnSpc>
                <a:spcPct val="95000"/>
              </a:lnSpc>
              <a:buNone/>
            </a:pPr>
            <a:r>
              <a:rPr lang="en-US" sz="1100" b="1" dirty="0">
                <a:solidFill>
                  <a:srgbClr val="FFFFFF"/>
                </a:solidFill>
                <a:latin typeface="Apple SD Gothic Neo" pitchFamily="34" charset="0"/>
                <a:ea typeface="Apple SD Gothic Neo" pitchFamily="34" charset="-122"/>
                <a:cs typeface="Apple SD Gothic Neo" pitchFamily="34" charset="-120"/>
              </a:rPr>
              <a:t>Animal (추상)</a:t>
            </a:r>
            <a:endParaRPr lang="en-US" sz="110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speed·hp·ap·rsp·hunger / move·eat·act()*</a:t>
            </a:r>
            <a:endParaRPr lang="en-US" sz="1100" dirty="0"/>
          </a:p>
        </p:txBody>
      </p:sp>
      <p:sp>
        <p:nvSpPr>
          <p:cNvPr id="10" name="Shape 8"/>
          <p:cNvSpPr/>
          <p:nvPr/>
        </p:nvSpPr>
        <p:spPr>
          <a:xfrm>
            <a:off x="7589520" y="1847088"/>
            <a:ext cx="1280160" cy="566928"/>
          </a:xfrm>
          <a:prstGeom prst="rect">
            <a:avLst/>
          </a:prstGeom>
          <a:solidFill>
            <a:srgbClr val="97BC62"/>
          </a:solidFill>
          <a:ln w="9525">
            <a:solidFill>
              <a:srgbClr val="1E3D1F"/>
            </a:solidFill>
            <a:prstDash val="solid"/>
          </a:ln>
        </p:spPr>
      </p:sp>
      <p:sp>
        <p:nvSpPr>
          <p:cNvPr id="11" name="Text 9"/>
          <p:cNvSpPr/>
          <p:nvPr/>
        </p:nvSpPr>
        <p:spPr>
          <a:xfrm>
            <a:off x="7589520" y="1847088"/>
            <a:ext cx="1280160" cy="566928"/>
          </a:xfrm>
          <a:prstGeom prst="rect">
            <a:avLst/>
          </a:prstGeom>
          <a:noFill/>
          <a:ln/>
        </p:spPr>
        <p:txBody>
          <a:bodyPr wrap="square" lIns="254" tIns="254" rIns="254" bIns="254" rtlCol="0" anchor="ctr"/>
          <a:lstStyle/>
          <a:p>
            <a:pPr algn="ctr" indent="0" marL="0">
              <a:lnSpc>
                <a:spcPct val="95000"/>
              </a:lnSpc>
              <a:buNone/>
            </a:pPr>
            <a:r>
              <a:rPr lang="en-US" sz="1100" b="1" dirty="0">
                <a:solidFill>
                  <a:srgbClr val="26331F"/>
                </a:solidFill>
                <a:latin typeface="Apple SD Gothic Neo" pitchFamily="34" charset="0"/>
                <a:ea typeface="Apple SD Gothic Neo" pitchFamily="34" charset="-122"/>
                <a:cs typeface="Apple SD Gothic Neo" pitchFamily="34" charset="-120"/>
              </a:rPr>
              <a:t>Plant</a:t>
            </a:r>
            <a:endParaRPr lang="en-US" sz="1100" dirty="0"/>
          </a:p>
          <a:p>
            <a:pPr algn="ctr" indent="0" marL="0">
              <a:lnSpc>
                <a:spcPct val="95000"/>
              </a:lnSpc>
              <a:buNone/>
            </a:pPr>
            <a:r>
              <a:rPr lang="en-US" sz="750" dirty="0">
                <a:solidFill>
                  <a:srgbClr val="26331F"/>
                </a:solidFill>
                <a:latin typeface="Apple SD Gothic Neo" pitchFamily="34" charset="0"/>
                <a:ea typeface="Apple SD Gothic Neo" pitchFamily="34" charset="-122"/>
                <a:cs typeface="Apple SD Gothic Neo" pitchFamily="34" charset="-120"/>
              </a:rPr>
              <a:t>eaten / grow()</a:t>
            </a:r>
            <a:endParaRPr lang="en-US" sz="1100" dirty="0"/>
          </a:p>
        </p:txBody>
      </p:sp>
      <p:sp>
        <p:nvSpPr>
          <p:cNvPr id="12" name="Shape 10"/>
          <p:cNvSpPr/>
          <p:nvPr/>
        </p:nvSpPr>
        <p:spPr>
          <a:xfrm flipV="1">
            <a:off x="3977640" y="1481328"/>
            <a:ext cx="594360" cy="365760"/>
          </a:xfrm>
          <a:prstGeom prst="line">
            <a:avLst/>
          </a:prstGeom>
          <a:noFill/>
          <a:ln w="15875">
            <a:solidFill>
              <a:srgbClr val="7A8F6A"/>
            </a:solidFill>
            <a:prstDash val="solid"/>
          </a:ln>
        </p:spPr>
      </p:sp>
      <p:sp>
        <p:nvSpPr>
          <p:cNvPr id="13" name="Shape 11"/>
          <p:cNvSpPr/>
          <p:nvPr/>
        </p:nvSpPr>
        <p:spPr>
          <a:xfrm>
            <a:off x="4572000" y="1481328"/>
            <a:ext cx="3657600" cy="365760"/>
          </a:xfrm>
          <a:prstGeom prst="line">
            <a:avLst/>
          </a:prstGeom>
          <a:noFill/>
          <a:ln w="15875">
            <a:solidFill>
              <a:srgbClr val="7A8F6A"/>
            </a:solidFill>
            <a:prstDash val="solid"/>
          </a:ln>
        </p:spPr>
      </p:sp>
      <p:sp>
        <p:nvSpPr>
          <p:cNvPr id="14" name="Shape 12"/>
          <p:cNvSpPr/>
          <p:nvPr/>
        </p:nvSpPr>
        <p:spPr>
          <a:xfrm>
            <a:off x="1417320" y="2788920"/>
            <a:ext cx="1828800" cy="566928"/>
          </a:xfrm>
          <a:prstGeom prst="rect">
            <a:avLst/>
          </a:prstGeom>
          <a:solidFill>
            <a:srgbClr val="97BC62"/>
          </a:solidFill>
          <a:ln w="9525">
            <a:solidFill>
              <a:srgbClr val="1E3D1F"/>
            </a:solidFill>
            <a:prstDash val="solid"/>
          </a:ln>
        </p:spPr>
      </p:sp>
      <p:sp>
        <p:nvSpPr>
          <p:cNvPr id="15" name="Text 13"/>
          <p:cNvSpPr/>
          <p:nvPr/>
        </p:nvSpPr>
        <p:spPr>
          <a:xfrm>
            <a:off x="1417320" y="2788920"/>
            <a:ext cx="1828800" cy="566928"/>
          </a:xfrm>
          <a:prstGeom prst="rect">
            <a:avLst/>
          </a:prstGeom>
          <a:noFill/>
          <a:ln/>
        </p:spPr>
        <p:txBody>
          <a:bodyPr wrap="square" lIns="254" tIns="254" rIns="254" bIns="254" rtlCol="0" anchor="ctr"/>
          <a:lstStyle/>
          <a:p>
            <a:pPr algn="ctr" indent="0" marL="0">
              <a:lnSpc>
                <a:spcPct val="95000"/>
              </a:lnSpc>
              <a:buNone/>
            </a:pPr>
            <a:r>
              <a:rPr lang="en-US" sz="1100" b="1" dirty="0">
                <a:solidFill>
                  <a:srgbClr val="26331F"/>
                </a:solidFill>
                <a:latin typeface="Apple SD Gothic Neo" pitchFamily="34" charset="0"/>
                <a:ea typeface="Apple SD Gothic Neo" pitchFamily="34" charset="-122"/>
                <a:cs typeface="Apple SD Gothic Neo" pitchFamily="34" charset="-120"/>
              </a:rPr>
              <a:t>Herbivore</a:t>
            </a:r>
            <a:endParaRPr lang="en-US" sz="1100" dirty="0"/>
          </a:p>
          <a:p>
            <a:pPr algn="ctr" indent="0" marL="0">
              <a:lnSpc>
                <a:spcPct val="95000"/>
              </a:lnSpc>
              <a:buNone/>
            </a:pPr>
            <a:r>
              <a:rPr lang="en-US" sz="750" dirty="0">
                <a:solidFill>
                  <a:srgbClr val="26331F"/>
                </a:solidFill>
                <a:latin typeface="Apple SD Gothic Neo" pitchFamily="34" charset="0"/>
                <a:ea typeface="Apple SD Gothic Neo" pitchFamily="34" charset="-122"/>
                <a:cs typeface="Apple SD Gothic Neo" pitchFamily="34" charset="-120"/>
              </a:rPr>
              <a:t>rp_rate / reproduce()</a:t>
            </a:r>
            <a:endParaRPr lang="en-US" sz="1100" dirty="0"/>
          </a:p>
        </p:txBody>
      </p:sp>
      <p:sp>
        <p:nvSpPr>
          <p:cNvPr id="16" name="Shape 14"/>
          <p:cNvSpPr/>
          <p:nvPr/>
        </p:nvSpPr>
        <p:spPr>
          <a:xfrm>
            <a:off x="4892040" y="2788920"/>
            <a:ext cx="1828800" cy="566928"/>
          </a:xfrm>
          <a:prstGeom prst="rect">
            <a:avLst/>
          </a:prstGeom>
          <a:solidFill>
            <a:srgbClr val="2C5F2D"/>
          </a:solidFill>
          <a:ln w="9525">
            <a:solidFill>
              <a:srgbClr val="1E3D1F"/>
            </a:solidFill>
            <a:prstDash val="solid"/>
          </a:ln>
        </p:spPr>
      </p:sp>
      <p:sp>
        <p:nvSpPr>
          <p:cNvPr id="17" name="Text 15"/>
          <p:cNvSpPr/>
          <p:nvPr/>
        </p:nvSpPr>
        <p:spPr>
          <a:xfrm>
            <a:off x="4892040" y="2788920"/>
            <a:ext cx="1828800" cy="566928"/>
          </a:xfrm>
          <a:prstGeom prst="rect">
            <a:avLst/>
          </a:prstGeom>
          <a:noFill/>
          <a:ln/>
        </p:spPr>
        <p:txBody>
          <a:bodyPr wrap="square" lIns="254" tIns="254" rIns="254" bIns="254" rtlCol="0" anchor="ctr"/>
          <a:lstStyle/>
          <a:p>
            <a:pPr algn="ctr" indent="0" marL="0">
              <a:lnSpc>
                <a:spcPct val="95000"/>
              </a:lnSpc>
              <a:buNone/>
            </a:pPr>
            <a:r>
              <a:rPr lang="en-US" sz="1100" b="1" dirty="0">
                <a:solidFill>
                  <a:srgbClr val="FFFFFF"/>
                </a:solidFill>
                <a:latin typeface="Apple SD Gothic Neo" pitchFamily="34" charset="0"/>
                <a:ea typeface="Apple SD Gothic Neo" pitchFamily="34" charset="-122"/>
                <a:cs typeface="Apple SD Gothic Neo" pitchFamily="34" charset="-120"/>
              </a:rPr>
              <a:t>Carnivore</a:t>
            </a:r>
            <a:endParaRPr lang="en-US" sz="110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energy / attack()</a:t>
            </a:r>
            <a:endParaRPr lang="en-US" sz="1100" dirty="0"/>
          </a:p>
        </p:txBody>
      </p:sp>
      <p:sp>
        <p:nvSpPr>
          <p:cNvPr id="18" name="Shape 16"/>
          <p:cNvSpPr/>
          <p:nvPr/>
        </p:nvSpPr>
        <p:spPr>
          <a:xfrm>
            <a:off x="7589520" y="2633472"/>
            <a:ext cx="1280160" cy="502920"/>
          </a:xfrm>
          <a:prstGeom prst="rect">
            <a:avLst/>
          </a:prstGeom>
          <a:solidFill>
            <a:srgbClr val="97BC62"/>
          </a:solidFill>
          <a:ln w="9525">
            <a:solidFill>
              <a:srgbClr val="1E3D1F"/>
            </a:solidFill>
            <a:prstDash val="solid"/>
          </a:ln>
        </p:spPr>
      </p:sp>
      <p:sp>
        <p:nvSpPr>
          <p:cNvPr id="19" name="Text 17"/>
          <p:cNvSpPr/>
          <p:nvPr/>
        </p:nvSpPr>
        <p:spPr>
          <a:xfrm>
            <a:off x="7589520" y="2633472"/>
            <a:ext cx="1280160" cy="502920"/>
          </a:xfrm>
          <a:prstGeom prst="rect">
            <a:avLst/>
          </a:prstGeom>
          <a:noFill/>
          <a:ln/>
        </p:spPr>
        <p:txBody>
          <a:bodyPr wrap="square" lIns="254" tIns="254" rIns="254" bIns="254" rtlCol="0" anchor="ctr"/>
          <a:lstStyle/>
          <a:p>
            <a:pPr algn="ctr" indent="0" marL="0">
              <a:lnSpc>
                <a:spcPct val="95000"/>
              </a:lnSpc>
              <a:buNone/>
            </a:pPr>
            <a:r>
              <a:rPr lang="en-US" sz="1100" b="1" dirty="0">
                <a:solidFill>
                  <a:srgbClr val="26331F"/>
                </a:solidFill>
                <a:latin typeface="Apple SD Gothic Neo" pitchFamily="34" charset="0"/>
                <a:ea typeface="Apple SD Gothic Neo" pitchFamily="34" charset="-122"/>
                <a:cs typeface="Apple SD Gothic Neo" pitchFamily="34" charset="-120"/>
              </a:rPr>
              <a:t>Grass 🌿</a:t>
            </a:r>
            <a:endParaRPr lang="en-US" sz="1100" dirty="0"/>
          </a:p>
          <a:p>
            <a:pPr algn="ctr" indent="0" marL="0">
              <a:lnSpc>
                <a:spcPct val="95000"/>
              </a:lnSpc>
              <a:buNone/>
            </a:pPr>
            <a:r>
              <a:rPr lang="en-US" sz="750" dirty="0">
                <a:solidFill>
                  <a:srgbClr val="26331F"/>
                </a:solidFill>
                <a:latin typeface="Apple SD Gothic Neo" pitchFamily="34" charset="0"/>
                <a:ea typeface="Apple SD Gothic Neo" pitchFamily="34" charset="-122"/>
                <a:cs typeface="Apple SD Gothic Neo" pitchFamily="34" charset="-120"/>
              </a:rPr>
              <a:t>rab_num·be_eaten()</a:t>
            </a:r>
            <a:endParaRPr lang="en-US" sz="1100" dirty="0"/>
          </a:p>
        </p:txBody>
      </p:sp>
      <p:sp>
        <p:nvSpPr>
          <p:cNvPr id="20" name="Shape 18"/>
          <p:cNvSpPr/>
          <p:nvPr/>
        </p:nvSpPr>
        <p:spPr>
          <a:xfrm>
            <a:off x="7589520" y="3246120"/>
            <a:ext cx="1280160" cy="502920"/>
          </a:xfrm>
          <a:prstGeom prst="rect">
            <a:avLst/>
          </a:prstGeom>
          <a:solidFill>
            <a:srgbClr val="97BC62"/>
          </a:solidFill>
          <a:ln w="9525">
            <a:solidFill>
              <a:srgbClr val="1E3D1F"/>
            </a:solidFill>
            <a:prstDash val="solid"/>
          </a:ln>
        </p:spPr>
      </p:sp>
      <p:sp>
        <p:nvSpPr>
          <p:cNvPr id="21" name="Text 19"/>
          <p:cNvSpPr/>
          <p:nvPr/>
        </p:nvSpPr>
        <p:spPr>
          <a:xfrm>
            <a:off x="7589520" y="3246120"/>
            <a:ext cx="1280160" cy="502920"/>
          </a:xfrm>
          <a:prstGeom prst="rect">
            <a:avLst/>
          </a:prstGeom>
          <a:noFill/>
          <a:ln/>
        </p:spPr>
        <p:txBody>
          <a:bodyPr wrap="square" lIns="254" tIns="254" rIns="254" bIns="254" rtlCol="0" anchor="ctr"/>
          <a:lstStyle/>
          <a:p>
            <a:pPr algn="ctr" indent="0" marL="0">
              <a:lnSpc>
                <a:spcPct val="95000"/>
              </a:lnSpc>
              <a:buNone/>
            </a:pPr>
            <a:r>
              <a:rPr lang="en-US" sz="1100" b="1" dirty="0">
                <a:solidFill>
                  <a:srgbClr val="26331F"/>
                </a:solidFill>
                <a:latin typeface="Apple SD Gothic Neo" pitchFamily="34" charset="0"/>
                <a:ea typeface="Apple SD Gothic Neo" pitchFamily="34" charset="-122"/>
                <a:cs typeface="Apple SD Gothic Neo" pitchFamily="34" charset="-120"/>
              </a:rPr>
              <a:t>Tree 🌳</a:t>
            </a:r>
            <a:endParaRPr lang="en-US" sz="1100" dirty="0"/>
          </a:p>
          <a:p>
            <a:pPr algn="ctr" indent="0" marL="0">
              <a:lnSpc>
                <a:spcPct val="95000"/>
              </a:lnSpc>
              <a:buNone/>
            </a:pPr>
            <a:r>
              <a:rPr lang="en-US" sz="750" dirty="0">
                <a:solidFill>
                  <a:srgbClr val="26331F"/>
                </a:solidFill>
                <a:latin typeface="Apple SD Gothic Neo" pitchFamily="34" charset="0"/>
                <a:ea typeface="Apple SD Gothic Neo" pitchFamily="34" charset="-122"/>
                <a:cs typeface="Apple SD Gothic Neo" pitchFamily="34" charset="-120"/>
              </a:rPr>
              <a:t>BREED_RADIUS</a:t>
            </a:r>
            <a:endParaRPr lang="en-US" sz="1100" dirty="0"/>
          </a:p>
        </p:txBody>
      </p:sp>
      <p:sp>
        <p:nvSpPr>
          <p:cNvPr id="22" name="Shape 20"/>
          <p:cNvSpPr/>
          <p:nvPr/>
        </p:nvSpPr>
        <p:spPr>
          <a:xfrm flipV="1">
            <a:off x="2331720" y="2450592"/>
            <a:ext cx="1645920" cy="338328"/>
          </a:xfrm>
          <a:prstGeom prst="line">
            <a:avLst/>
          </a:prstGeom>
          <a:noFill/>
          <a:ln w="15875">
            <a:solidFill>
              <a:srgbClr val="7A8F6A"/>
            </a:solidFill>
            <a:prstDash val="solid"/>
          </a:ln>
        </p:spPr>
      </p:sp>
      <p:sp>
        <p:nvSpPr>
          <p:cNvPr id="23" name="Shape 21"/>
          <p:cNvSpPr/>
          <p:nvPr/>
        </p:nvSpPr>
        <p:spPr>
          <a:xfrm>
            <a:off x="3977640" y="2450592"/>
            <a:ext cx="1828800" cy="338328"/>
          </a:xfrm>
          <a:prstGeom prst="line">
            <a:avLst/>
          </a:prstGeom>
          <a:noFill/>
          <a:ln w="15875">
            <a:solidFill>
              <a:srgbClr val="7A8F6A"/>
            </a:solidFill>
            <a:prstDash val="solid"/>
          </a:ln>
        </p:spPr>
      </p:sp>
      <p:sp>
        <p:nvSpPr>
          <p:cNvPr id="24" name="Shape 22"/>
          <p:cNvSpPr/>
          <p:nvPr/>
        </p:nvSpPr>
        <p:spPr>
          <a:xfrm>
            <a:off x="8229600" y="2414016"/>
            <a:ext cx="0" cy="219456"/>
          </a:xfrm>
          <a:prstGeom prst="line">
            <a:avLst/>
          </a:prstGeom>
          <a:noFill/>
          <a:ln w="15875">
            <a:solidFill>
              <a:srgbClr val="7A8F6A"/>
            </a:solidFill>
            <a:prstDash val="solid"/>
          </a:ln>
        </p:spPr>
      </p:sp>
      <p:sp>
        <p:nvSpPr>
          <p:cNvPr id="25" name="Shape 23"/>
          <p:cNvSpPr/>
          <p:nvPr/>
        </p:nvSpPr>
        <p:spPr>
          <a:xfrm>
            <a:off x="8229600" y="3136392"/>
            <a:ext cx="0" cy="109728"/>
          </a:xfrm>
          <a:prstGeom prst="line">
            <a:avLst/>
          </a:prstGeom>
          <a:noFill/>
          <a:ln w="15875">
            <a:solidFill>
              <a:srgbClr val="7A8F6A"/>
            </a:solidFill>
            <a:prstDash val="solid"/>
          </a:ln>
        </p:spPr>
      </p:sp>
      <p:sp>
        <p:nvSpPr>
          <p:cNvPr id="26" name="Shape 24"/>
          <p:cNvSpPr/>
          <p:nvPr/>
        </p:nvSpPr>
        <p:spPr>
          <a:xfrm>
            <a:off x="274320" y="3794760"/>
            <a:ext cx="1024128" cy="713232"/>
          </a:xfrm>
          <a:prstGeom prst="rect">
            <a:avLst/>
          </a:prstGeom>
          <a:solidFill>
            <a:srgbClr val="97BC62"/>
          </a:solidFill>
          <a:ln w="9525">
            <a:solidFill>
              <a:srgbClr val="1E3D1F"/>
            </a:solidFill>
            <a:prstDash val="solid"/>
          </a:ln>
        </p:spPr>
      </p:sp>
      <p:sp>
        <p:nvSpPr>
          <p:cNvPr id="27" name="Text 25"/>
          <p:cNvSpPr/>
          <p:nvPr/>
        </p:nvSpPr>
        <p:spPr>
          <a:xfrm>
            <a:off x="274320" y="3794760"/>
            <a:ext cx="1024128" cy="713232"/>
          </a:xfrm>
          <a:prstGeom prst="rect">
            <a:avLst/>
          </a:prstGeom>
          <a:noFill/>
          <a:ln/>
        </p:spPr>
        <p:txBody>
          <a:bodyPr wrap="square" lIns="254" tIns="254" rIns="254" bIns="254" rtlCol="0" anchor="ctr"/>
          <a:lstStyle/>
          <a:p>
            <a:pPr algn="ctr" indent="0" marL="0">
              <a:lnSpc>
                <a:spcPct val="95000"/>
              </a:lnSpc>
              <a:buNone/>
            </a:pPr>
            <a:r>
              <a:rPr lang="en-US" sz="950" b="1" dirty="0">
                <a:solidFill>
                  <a:srgbClr val="26331F"/>
                </a:solidFill>
                <a:latin typeface="Apple SD Gothic Neo" pitchFamily="34" charset="0"/>
                <a:ea typeface="Apple SD Gothic Neo" pitchFamily="34" charset="-122"/>
                <a:cs typeface="Apple SD Gothic Neo" pitchFamily="34" charset="-120"/>
              </a:rPr>
              <a:t>🐇 Rabbit</a:t>
            </a:r>
            <a:endParaRPr lang="en-US" sz="950" dirty="0"/>
          </a:p>
          <a:p>
            <a:pPr algn="ctr" indent="0" marL="0">
              <a:lnSpc>
                <a:spcPct val="95000"/>
              </a:lnSpc>
              <a:buNone/>
            </a:pPr>
            <a:r>
              <a:rPr lang="en-US" sz="750" dirty="0">
                <a:solidFill>
                  <a:srgbClr val="26331F"/>
                </a:solidFill>
                <a:latin typeface="Apple SD Gothic Neo" pitchFamily="34" charset="0"/>
                <a:ea typeface="Apple SD Gothic Neo" pitchFamily="34" charset="-122"/>
                <a:cs typeface="Apple SD Gothic Neo" pitchFamily="34" charset="-120"/>
              </a:rPr>
              <a:t>hide()</a:t>
            </a:r>
            <a:endParaRPr lang="en-US" sz="950" dirty="0"/>
          </a:p>
        </p:txBody>
      </p:sp>
      <p:sp>
        <p:nvSpPr>
          <p:cNvPr id="28" name="Shape 26"/>
          <p:cNvSpPr/>
          <p:nvPr/>
        </p:nvSpPr>
        <p:spPr>
          <a:xfrm flipV="1">
            <a:off x="786384" y="3355848"/>
            <a:ext cx="1545336" cy="438912"/>
          </a:xfrm>
          <a:prstGeom prst="line">
            <a:avLst/>
          </a:prstGeom>
          <a:noFill/>
          <a:ln w="15875">
            <a:solidFill>
              <a:srgbClr val="7A8F6A"/>
            </a:solidFill>
            <a:prstDash val="solid"/>
          </a:ln>
        </p:spPr>
      </p:sp>
      <p:sp>
        <p:nvSpPr>
          <p:cNvPr id="29" name="Shape 27"/>
          <p:cNvSpPr/>
          <p:nvPr/>
        </p:nvSpPr>
        <p:spPr>
          <a:xfrm>
            <a:off x="1371600" y="3794760"/>
            <a:ext cx="1024128" cy="713232"/>
          </a:xfrm>
          <a:prstGeom prst="rect">
            <a:avLst/>
          </a:prstGeom>
          <a:solidFill>
            <a:srgbClr val="97BC62"/>
          </a:solidFill>
          <a:ln w="9525">
            <a:solidFill>
              <a:srgbClr val="1E3D1F"/>
            </a:solidFill>
            <a:prstDash val="solid"/>
          </a:ln>
        </p:spPr>
      </p:sp>
      <p:sp>
        <p:nvSpPr>
          <p:cNvPr id="30" name="Text 28"/>
          <p:cNvSpPr/>
          <p:nvPr/>
        </p:nvSpPr>
        <p:spPr>
          <a:xfrm>
            <a:off x="1371600" y="3794760"/>
            <a:ext cx="1024128" cy="713232"/>
          </a:xfrm>
          <a:prstGeom prst="rect">
            <a:avLst/>
          </a:prstGeom>
          <a:noFill/>
          <a:ln/>
        </p:spPr>
        <p:txBody>
          <a:bodyPr wrap="square" lIns="254" tIns="254" rIns="254" bIns="254" rtlCol="0" anchor="ctr"/>
          <a:lstStyle/>
          <a:p>
            <a:pPr algn="ctr" indent="0" marL="0">
              <a:lnSpc>
                <a:spcPct val="95000"/>
              </a:lnSpc>
              <a:buNone/>
            </a:pPr>
            <a:r>
              <a:rPr lang="en-US" sz="950" b="1" dirty="0">
                <a:solidFill>
                  <a:srgbClr val="26331F"/>
                </a:solidFill>
                <a:latin typeface="Apple SD Gothic Neo" pitchFamily="34" charset="0"/>
                <a:ea typeface="Apple SD Gothic Neo" pitchFamily="34" charset="-122"/>
                <a:cs typeface="Apple SD Gothic Neo" pitchFamily="34" charset="-120"/>
              </a:rPr>
              <a:t>🦒 Giraffe</a:t>
            </a:r>
            <a:endParaRPr lang="en-US" sz="950" dirty="0"/>
          </a:p>
          <a:p>
            <a:pPr algn="ctr" indent="0" marL="0">
              <a:lnSpc>
                <a:spcPct val="95000"/>
              </a:lnSpc>
              <a:buNone/>
            </a:pPr>
            <a:r>
              <a:rPr lang="en-US" sz="750" dirty="0">
                <a:solidFill>
                  <a:srgbClr val="26331F"/>
                </a:solidFill>
                <a:latin typeface="Apple SD Gothic Neo" pitchFamily="34" charset="0"/>
                <a:ea typeface="Apple SD Gothic Neo" pitchFamily="34" charset="-122"/>
                <a:cs typeface="Apple SD Gothic Neo" pitchFamily="34" charset="-120"/>
              </a:rPr>
              <a:t>neckfight()</a:t>
            </a:r>
            <a:endParaRPr lang="en-US" sz="950" dirty="0"/>
          </a:p>
        </p:txBody>
      </p:sp>
      <p:sp>
        <p:nvSpPr>
          <p:cNvPr id="31" name="Shape 29"/>
          <p:cNvSpPr/>
          <p:nvPr/>
        </p:nvSpPr>
        <p:spPr>
          <a:xfrm flipV="1">
            <a:off x="1883664" y="3355848"/>
            <a:ext cx="448056" cy="438912"/>
          </a:xfrm>
          <a:prstGeom prst="line">
            <a:avLst/>
          </a:prstGeom>
          <a:noFill/>
          <a:ln w="15875">
            <a:solidFill>
              <a:srgbClr val="7A8F6A"/>
            </a:solidFill>
            <a:prstDash val="solid"/>
          </a:ln>
        </p:spPr>
      </p:sp>
      <p:sp>
        <p:nvSpPr>
          <p:cNvPr id="32" name="Shape 30"/>
          <p:cNvSpPr/>
          <p:nvPr/>
        </p:nvSpPr>
        <p:spPr>
          <a:xfrm>
            <a:off x="2468880" y="3794760"/>
            <a:ext cx="1024128" cy="713232"/>
          </a:xfrm>
          <a:prstGeom prst="rect">
            <a:avLst/>
          </a:prstGeom>
          <a:solidFill>
            <a:srgbClr val="2C5F2D"/>
          </a:solidFill>
          <a:ln w="9525">
            <a:solidFill>
              <a:srgbClr val="1E3D1F"/>
            </a:solidFill>
            <a:prstDash val="solid"/>
          </a:ln>
        </p:spPr>
      </p:sp>
      <p:sp>
        <p:nvSpPr>
          <p:cNvPr id="33" name="Text 31"/>
          <p:cNvSpPr/>
          <p:nvPr/>
        </p:nvSpPr>
        <p:spPr>
          <a:xfrm>
            <a:off x="2468880" y="3794760"/>
            <a:ext cx="1024128" cy="713232"/>
          </a:xfrm>
          <a:prstGeom prst="rect">
            <a:avLst/>
          </a:prstGeom>
          <a:noFill/>
          <a:ln/>
        </p:spPr>
        <p:txBody>
          <a:bodyPr wrap="square" lIns="254" tIns="254" rIns="254" bIns="254" rtlCol="0" anchor="ctr"/>
          <a:lstStyle/>
          <a:p>
            <a:pPr algn="ctr" indent="0" marL="0">
              <a:lnSpc>
                <a:spcPct val="95000"/>
              </a:lnSpc>
              <a:buNone/>
            </a:pPr>
            <a:r>
              <a:rPr lang="en-US" sz="950" b="1" dirty="0">
                <a:solidFill>
                  <a:srgbClr val="FFFFFF"/>
                </a:solidFill>
                <a:latin typeface="Apple SD Gothic Neo" pitchFamily="34" charset="0"/>
                <a:ea typeface="Apple SD Gothic Neo" pitchFamily="34" charset="-122"/>
                <a:cs typeface="Apple SD Gothic Neo" pitchFamily="34" charset="-120"/>
              </a:rPr>
              <a:t>🦓 Zebra</a:t>
            </a:r>
            <a:endParaRPr lang="en-US" sz="95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distract()</a:t>
            </a:r>
            <a:endParaRPr lang="en-US" sz="950" dirty="0"/>
          </a:p>
        </p:txBody>
      </p:sp>
      <p:sp>
        <p:nvSpPr>
          <p:cNvPr id="34" name="Shape 32"/>
          <p:cNvSpPr/>
          <p:nvPr/>
        </p:nvSpPr>
        <p:spPr>
          <a:xfrm>
            <a:off x="2331720" y="3355848"/>
            <a:ext cx="649224" cy="438912"/>
          </a:xfrm>
          <a:prstGeom prst="line">
            <a:avLst/>
          </a:prstGeom>
          <a:noFill/>
          <a:ln w="15875">
            <a:solidFill>
              <a:srgbClr val="7A8F6A"/>
            </a:solidFill>
            <a:prstDash val="solid"/>
          </a:ln>
        </p:spPr>
      </p:sp>
      <p:sp>
        <p:nvSpPr>
          <p:cNvPr id="35" name="Shape 33"/>
          <p:cNvSpPr/>
          <p:nvPr/>
        </p:nvSpPr>
        <p:spPr>
          <a:xfrm>
            <a:off x="3566160" y="3794760"/>
            <a:ext cx="1024128" cy="713232"/>
          </a:xfrm>
          <a:prstGeom prst="rect">
            <a:avLst/>
          </a:prstGeom>
          <a:solidFill>
            <a:srgbClr val="2C5F2D"/>
          </a:solidFill>
          <a:ln w="9525">
            <a:solidFill>
              <a:srgbClr val="1E3D1F"/>
            </a:solidFill>
            <a:prstDash val="solid"/>
          </a:ln>
        </p:spPr>
      </p:sp>
      <p:sp>
        <p:nvSpPr>
          <p:cNvPr id="36" name="Text 34"/>
          <p:cNvSpPr/>
          <p:nvPr/>
        </p:nvSpPr>
        <p:spPr>
          <a:xfrm>
            <a:off x="3566160" y="3794760"/>
            <a:ext cx="1024128" cy="713232"/>
          </a:xfrm>
          <a:prstGeom prst="rect">
            <a:avLst/>
          </a:prstGeom>
          <a:noFill/>
          <a:ln/>
        </p:spPr>
        <p:txBody>
          <a:bodyPr wrap="square" lIns="254" tIns="254" rIns="254" bIns="254" rtlCol="0" anchor="ctr"/>
          <a:lstStyle/>
          <a:p>
            <a:pPr algn="ctr" indent="0" marL="0">
              <a:lnSpc>
                <a:spcPct val="95000"/>
              </a:lnSpc>
              <a:buNone/>
            </a:pPr>
            <a:r>
              <a:rPr lang="en-US" sz="950" b="1" dirty="0">
                <a:solidFill>
                  <a:srgbClr val="FFFFFF"/>
                </a:solidFill>
                <a:latin typeface="Apple SD Gothic Neo" pitchFamily="34" charset="0"/>
                <a:ea typeface="Apple SD Gothic Neo" pitchFamily="34" charset="-122"/>
                <a:cs typeface="Apple SD Gothic Neo" pitchFamily="34" charset="-120"/>
              </a:rPr>
              <a:t>🐘 Elephant</a:t>
            </a:r>
            <a:endParaRPr lang="en-US" sz="95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stomp()·tree()</a:t>
            </a:r>
            <a:endParaRPr lang="en-US" sz="950" dirty="0"/>
          </a:p>
        </p:txBody>
      </p:sp>
      <p:sp>
        <p:nvSpPr>
          <p:cNvPr id="37" name="Shape 35"/>
          <p:cNvSpPr/>
          <p:nvPr/>
        </p:nvSpPr>
        <p:spPr>
          <a:xfrm>
            <a:off x="2331720" y="3355848"/>
            <a:ext cx="1746504" cy="438912"/>
          </a:xfrm>
          <a:prstGeom prst="line">
            <a:avLst/>
          </a:prstGeom>
          <a:noFill/>
          <a:ln w="15875">
            <a:solidFill>
              <a:srgbClr val="7A8F6A"/>
            </a:solidFill>
            <a:prstDash val="solid"/>
          </a:ln>
        </p:spPr>
      </p:sp>
      <p:sp>
        <p:nvSpPr>
          <p:cNvPr id="38" name="Shape 36"/>
          <p:cNvSpPr/>
          <p:nvPr/>
        </p:nvSpPr>
        <p:spPr>
          <a:xfrm>
            <a:off x="4892040" y="3794760"/>
            <a:ext cx="1024128" cy="713232"/>
          </a:xfrm>
          <a:prstGeom prst="rect">
            <a:avLst/>
          </a:prstGeom>
          <a:solidFill>
            <a:srgbClr val="E07A2F"/>
          </a:solidFill>
          <a:ln w="9525">
            <a:solidFill>
              <a:srgbClr val="1E3D1F"/>
            </a:solidFill>
            <a:prstDash val="solid"/>
          </a:ln>
        </p:spPr>
      </p:sp>
      <p:sp>
        <p:nvSpPr>
          <p:cNvPr id="39" name="Text 37"/>
          <p:cNvSpPr/>
          <p:nvPr/>
        </p:nvSpPr>
        <p:spPr>
          <a:xfrm>
            <a:off x="4892040" y="3794760"/>
            <a:ext cx="1024128" cy="713232"/>
          </a:xfrm>
          <a:prstGeom prst="rect">
            <a:avLst/>
          </a:prstGeom>
          <a:noFill/>
          <a:ln/>
        </p:spPr>
        <p:txBody>
          <a:bodyPr wrap="square" lIns="254" tIns="254" rIns="254" bIns="254" rtlCol="0" anchor="ctr"/>
          <a:lstStyle/>
          <a:p>
            <a:pPr algn="ctr" indent="0" marL="0">
              <a:lnSpc>
                <a:spcPct val="95000"/>
              </a:lnSpc>
              <a:buNone/>
            </a:pPr>
            <a:r>
              <a:rPr lang="en-US" sz="950" b="1" dirty="0">
                <a:solidFill>
                  <a:srgbClr val="FFFFFF"/>
                </a:solidFill>
                <a:latin typeface="Apple SD Gothic Neo" pitchFamily="34" charset="0"/>
                <a:ea typeface="Apple SD Gothic Neo" pitchFamily="34" charset="-122"/>
                <a:cs typeface="Apple SD Gothic Neo" pitchFamily="34" charset="-120"/>
              </a:rPr>
              <a:t>🦁 Lion</a:t>
            </a:r>
            <a:endParaRPr lang="en-US" sz="95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roar()</a:t>
            </a:r>
            <a:endParaRPr lang="en-US" sz="950" dirty="0"/>
          </a:p>
        </p:txBody>
      </p:sp>
      <p:sp>
        <p:nvSpPr>
          <p:cNvPr id="40" name="Shape 38"/>
          <p:cNvSpPr/>
          <p:nvPr/>
        </p:nvSpPr>
        <p:spPr>
          <a:xfrm flipV="1">
            <a:off x="5404104" y="3355848"/>
            <a:ext cx="402336" cy="438912"/>
          </a:xfrm>
          <a:prstGeom prst="line">
            <a:avLst/>
          </a:prstGeom>
          <a:noFill/>
          <a:ln w="15875">
            <a:solidFill>
              <a:srgbClr val="7A8F6A"/>
            </a:solidFill>
            <a:prstDash val="solid"/>
          </a:ln>
        </p:spPr>
      </p:sp>
      <p:sp>
        <p:nvSpPr>
          <p:cNvPr id="41" name="Shape 39"/>
          <p:cNvSpPr/>
          <p:nvPr/>
        </p:nvSpPr>
        <p:spPr>
          <a:xfrm>
            <a:off x="5989320" y="3794760"/>
            <a:ext cx="1024128" cy="713232"/>
          </a:xfrm>
          <a:prstGeom prst="rect">
            <a:avLst/>
          </a:prstGeom>
          <a:solidFill>
            <a:srgbClr val="E07A2F"/>
          </a:solidFill>
          <a:ln w="9525">
            <a:solidFill>
              <a:srgbClr val="1E3D1F"/>
            </a:solidFill>
            <a:prstDash val="solid"/>
          </a:ln>
        </p:spPr>
      </p:sp>
      <p:sp>
        <p:nvSpPr>
          <p:cNvPr id="42" name="Text 40"/>
          <p:cNvSpPr/>
          <p:nvPr/>
        </p:nvSpPr>
        <p:spPr>
          <a:xfrm>
            <a:off x="5989320" y="3794760"/>
            <a:ext cx="1024128" cy="713232"/>
          </a:xfrm>
          <a:prstGeom prst="rect">
            <a:avLst/>
          </a:prstGeom>
          <a:noFill/>
          <a:ln/>
        </p:spPr>
        <p:txBody>
          <a:bodyPr wrap="square" lIns="254" tIns="254" rIns="254" bIns="254" rtlCol="0" anchor="ctr"/>
          <a:lstStyle/>
          <a:p>
            <a:pPr algn="ctr" indent="0" marL="0">
              <a:lnSpc>
                <a:spcPct val="95000"/>
              </a:lnSpc>
              <a:buNone/>
            </a:pPr>
            <a:r>
              <a:rPr lang="en-US" sz="950" b="1" dirty="0">
                <a:solidFill>
                  <a:srgbClr val="FFFFFF"/>
                </a:solidFill>
                <a:latin typeface="Apple SD Gothic Neo" pitchFamily="34" charset="0"/>
                <a:ea typeface="Apple SD Gothic Neo" pitchFamily="34" charset="-122"/>
                <a:cs typeface="Apple SD Gothic Neo" pitchFamily="34" charset="-120"/>
              </a:rPr>
              <a:t>🐆 Cheetah</a:t>
            </a:r>
            <a:endParaRPr lang="en-US" sz="95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boost()</a:t>
            </a:r>
            <a:endParaRPr lang="en-US" sz="950" dirty="0"/>
          </a:p>
        </p:txBody>
      </p:sp>
      <p:sp>
        <p:nvSpPr>
          <p:cNvPr id="43" name="Shape 41"/>
          <p:cNvSpPr/>
          <p:nvPr/>
        </p:nvSpPr>
        <p:spPr>
          <a:xfrm>
            <a:off x="5806440" y="3355848"/>
            <a:ext cx="694944" cy="438912"/>
          </a:xfrm>
          <a:prstGeom prst="line">
            <a:avLst/>
          </a:prstGeom>
          <a:noFill/>
          <a:ln w="15875">
            <a:solidFill>
              <a:srgbClr val="7A8F6A"/>
            </a:solidFill>
            <a:prstDash val="solid"/>
          </a:ln>
        </p:spPr>
      </p:sp>
      <p:sp>
        <p:nvSpPr>
          <p:cNvPr id="44" name="Shape 42"/>
          <p:cNvSpPr/>
          <p:nvPr/>
        </p:nvSpPr>
        <p:spPr>
          <a:xfrm>
            <a:off x="7086600" y="3794760"/>
            <a:ext cx="1024128" cy="713232"/>
          </a:xfrm>
          <a:prstGeom prst="rect">
            <a:avLst/>
          </a:prstGeom>
          <a:solidFill>
            <a:srgbClr val="E07A2F"/>
          </a:solidFill>
          <a:ln w="9525">
            <a:solidFill>
              <a:srgbClr val="1E3D1F"/>
            </a:solidFill>
            <a:prstDash val="solid"/>
          </a:ln>
        </p:spPr>
      </p:sp>
      <p:sp>
        <p:nvSpPr>
          <p:cNvPr id="45" name="Text 43"/>
          <p:cNvSpPr/>
          <p:nvPr/>
        </p:nvSpPr>
        <p:spPr>
          <a:xfrm>
            <a:off x="7086600" y="3794760"/>
            <a:ext cx="1024128" cy="713232"/>
          </a:xfrm>
          <a:prstGeom prst="rect">
            <a:avLst/>
          </a:prstGeom>
          <a:noFill/>
          <a:ln/>
        </p:spPr>
        <p:txBody>
          <a:bodyPr wrap="square" lIns="254" tIns="254" rIns="254" bIns="254" rtlCol="0" anchor="ctr"/>
          <a:lstStyle/>
          <a:p>
            <a:pPr algn="ctr" indent="0" marL="0">
              <a:lnSpc>
                <a:spcPct val="95000"/>
              </a:lnSpc>
              <a:buNone/>
            </a:pPr>
            <a:r>
              <a:rPr lang="en-US" sz="950" b="1" dirty="0">
                <a:solidFill>
                  <a:srgbClr val="FFFFFF"/>
                </a:solidFill>
                <a:latin typeface="Apple SD Gothic Neo" pitchFamily="34" charset="0"/>
                <a:ea typeface="Apple SD Gothic Neo" pitchFamily="34" charset="-122"/>
                <a:cs typeface="Apple SD Gothic Neo" pitchFamily="34" charset="-120"/>
              </a:rPr>
              <a:t>🐺 Hyena</a:t>
            </a:r>
            <a:endParaRPr lang="en-US" sz="950" dirty="0"/>
          </a:p>
          <a:p>
            <a:pPr algn="ctr" indent="0" marL="0">
              <a:lnSpc>
                <a:spcPct val="95000"/>
              </a:lnSpc>
              <a:buNone/>
            </a:pPr>
            <a:r>
              <a:rPr lang="en-US" sz="750" dirty="0">
                <a:solidFill>
                  <a:srgbClr val="FFFFFF"/>
                </a:solidFill>
                <a:latin typeface="Apple SD Gothic Neo" pitchFamily="34" charset="0"/>
                <a:ea typeface="Apple SD Gothic Neo" pitchFamily="34" charset="-122"/>
                <a:cs typeface="Apple SD Gothic Neo" pitchFamily="34" charset="-120"/>
              </a:rPr>
              <a:t>steal()</a:t>
            </a:r>
            <a:endParaRPr lang="en-US" sz="950" dirty="0"/>
          </a:p>
        </p:txBody>
      </p:sp>
      <p:sp>
        <p:nvSpPr>
          <p:cNvPr id="46" name="Shape 44"/>
          <p:cNvSpPr/>
          <p:nvPr/>
        </p:nvSpPr>
        <p:spPr>
          <a:xfrm>
            <a:off x="5806440" y="3355848"/>
            <a:ext cx="1792224" cy="438912"/>
          </a:xfrm>
          <a:prstGeom prst="line">
            <a:avLst/>
          </a:prstGeom>
          <a:noFill/>
          <a:ln w="15875">
            <a:solidFill>
              <a:srgbClr val="7A8F6A"/>
            </a:solidFill>
            <a:prstDash val="solid"/>
          </a:ln>
        </p:spPr>
      </p:sp>
      <p:sp>
        <p:nvSpPr>
          <p:cNvPr id="47" name="Shape 45"/>
          <p:cNvSpPr/>
          <p:nvPr/>
        </p:nvSpPr>
        <p:spPr>
          <a:xfrm>
            <a:off x="502920" y="4773168"/>
            <a:ext cx="146304" cy="146304"/>
          </a:xfrm>
          <a:prstGeom prst="rect">
            <a:avLst/>
          </a:prstGeom>
          <a:solidFill>
            <a:srgbClr val="2C5F2D"/>
          </a:solidFill>
          <a:ln w="6350">
            <a:solidFill>
              <a:srgbClr val="1E3D1F"/>
            </a:solidFill>
            <a:prstDash val="solid"/>
          </a:ln>
        </p:spPr>
      </p:sp>
      <p:sp>
        <p:nvSpPr>
          <p:cNvPr id="48" name="Text 46"/>
          <p:cNvSpPr/>
          <p:nvPr/>
        </p:nvSpPr>
        <p:spPr>
          <a:xfrm>
            <a:off x="685800" y="4718304"/>
            <a:ext cx="777240" cy="256032"/>
          </a:xfrm>
          <a:prstGeom prst="rect">
            <a:avLst/>
          </a:prstGeom>
          <a:noFill/>
          <a:ln/>
        </p:spPr>
        <p:txBody>
          <a:bodyPr wrap="square" lIns="0" tIns="0" rIns="0" bIns="0" rtlCol="0" anchor="ctr"/>
          <a:lstStyle/>
          <a:p>
            <a:pPr indent="0" marL="0">
              <a:buNone/>
            </a:pPr>
            <a:r>
              <a:rPr lang="en-US" sz="950" dirty="0">
                <a:solidFill>
                  <a:srgbClr val="26331F"/>
                </a:solidFill>
                <a:latin typeface="Apple SD Gothic Neo" pitchFamily="34" charset="0"/>
                <a:ea typeface="Apple SD Gothic Neo" pitchFamily="34" charset="-122"/>
                <a:cs typeface="Apple SD Gothic Neo" pitchFamily="34" charset="-120"/>
              </a:rPr>
              <a:t>심성진</a:t>
            </a:r>
            <a:endParaRPr lang="en-US" sz="950" dirty="0"/>
          </a:p>
        </p:txBody>
      </p:sp>
      <p:sp>
        <p:nvSpPr>
          <p:cNvPr id="49" name="Shape 47"/>
          <p:cNvSpPr/>
          <p:nvPr/>
        </p:nvSpPr>
        <p:spPr>
          <a:xfrm>
            <a:off x="1463040" y="4773168"/>
            <a:ext cx="146304" cy="146304"/>
          </a:xfrm>
          <a:prstGeom prst="rect">
            <a:avLst/>
          </a:prstGeom>
          <a:solidFill>
            <a:srgbClr val="97BC62"/>
          </a:solidFill>
          <a:ln w="6350">
            <a:solidFill>
              <a:srgbClr val="1E3D1F"/>
            </a:solidFill>
            <a:prstDash val="solid"/>
          </a:ln>
        </p:spPr>
      </p:sp>
      <p:sp>
        <p:nvSpPr>
          <p:cNvPr id="50" name="Text 48"/>
          <p:cNvSpPr/>
          <p:nvPr/>
        </p:nvSpPr>
        <p:spPr>
          <a:xfrm>
            <a:off x="1645920" y="4718304"/>
            <a:ext cx="777240" cy="256032"/>
          </a:xfrm>
          <a:prstGeom prst="rect">
            <a:avLst/>
          </a:prstGeom>
          <a:noFill/>
          <a:ln/>
        </p:spPr>
        <p:txBody>
          <a:bodyPr wrap="square" lIns="0" tIns="0" rIns="0" bIns="0" rtlCol="0" anchor="ctr"/>
          <a:lstStyle/>
          <a:p>
            <a:pPr indent="0" marL="0">
              <a:buNone/>
            </a:pPr>
            <a:r>
              <a:rPr lang="en-US" sz="950" dirty="0">
                <a:solidFill>
                  <a:srgbClr val="26331F"/>
                </a:solidFill>
                <a:latin typeface="Apple SD Gothic Neo" pitchFamily="34" charset="0"/>
                <a:ea typeface="Apple SD Gothic Neo" pitchFamily="34" charset="-122"/>
                <a:cs typeface="Apple SD Gothic Neo" pitchFamily="34" charset="-120"/>
              </a:rPr>
              <a:t>한시헌</a:t>
            </a:r>
            <a:endParaRPr lang="en-US" sz="950" dirty="0"/>
          </a:p>
        </p:txBody>
      </p:sp>
      <p:sp>
        <p:nvSpPr>
          <p:cNvPr id="51" name="Shape 49"/>
          <p:cNvSpPr/>
          <p:nvPr/>
        </p:nvSpPr>
        <p:spPr>
          <a:xfrm>
            <a:off x="2423160" y="4773168"/>
            <a:ext cx="146304" cy="146304"/>
          </a:xfrm>
          <a:prstGeom prst="rect">
            <a:avLst/>
          </a:prstGeom>
          <a:solidFill>
            <a:srgbClr val="E07A2F"/>
          </a:solidFill>
          <a:ln w="6350">
            <a:solidFill>
              <a:srgbClr val="1E3D1F"/>
            </a:solidFill>
            <a:prstDash val="solid"/>
          </a:ln>
        </p:spPr>
      </p:sp>
      <p:sp>
        <p:nvSpPr>
          <p:cNvPr id="52" name="Text 50"/>
          <p:cNvSpPr/>
          <p:nvPr/>
        </p:nvSpPr>
        <p:spPr>
          <a:xfrm>
            <a:off x="2606040" y="4718304"/>
            <a:ext cx="777240" cy="256032"/>
          </a:xfrm>
          <a:prstGeom prst="rect">
            <a:avLst/>
          </a:prstGeom>
          <a:noFill/>
          <a:ln/>
        </p:spPr>
        <p:txBody>
          <a:bodyPr wrap="square" lIns="0" tIns="0" rIns="0" bIns="0" rtlCol="0" anchor="ctr"/>
          <a:lstStyle/>
          <a:p>
            <a:pPr indent="0" marL="0">
              <a:buNone/>
            </a:pPr>
            <a:r>
              <a:rPr lang="en-US" sz="950" dirty="0">
                <a:solidFill>
                  <a:srgbClr val="26331F"/>
                </a:solidFill>
                <a:latin typeface="Apple SD Gothic Neo" pitchFamily="34" charset="0"/>
                <a:ea typeface="Apple SD Gothic Neo" pitchFamily="34" charset="-122"/>
                <a:cs typeface="Apple SD Gothic Neo" pitchFamily="34" charset="-120"/>
              </a:rPr>
              <a:t>심준서</a:t>
            </a:r>
            <a:endParaRPr lang="en-US" sz="950" dirty="0"/>
          </a:p>
        </p:txBody>
      </p:sp>
      <p:sp>
        <p:nvSpPr>
          <p:cNvPr id="53" name="Shape 51"/>
          <p:cNvSpPr/>
          <p:nvPr/>
        </p:nvSpPr>
        <p:spPr>
          <a:xfrm>
            <a:off x="3383280" y="4773168"/>
            <a:ext cx="146304" cy="146304"/>
          </a:xfrm>
          <a:prstGeom prst="rect">
            <a:avLst/>
          </a:prstGeom>
          <a:solidFill>
            <a:srgbClr val="44617B"/>
          </a:solidFill>
          <a:ln w="6350">
            <a:solidFill>
              <a:srgbClr val="1E3D1F"/>
            </a:solidFill>
            <a:prstDash val="solid"/>
          </a:ln>
        </p:spPr>
      </p:sp>
      <p:sp>
        <p:nvSpPr>
          <p:cNvPr id="54" name="Text 52"/>
          <p:cNvSpPr/>
          <p:nvPr/>
        </p:nvSpPr>
        <p:spPr>
          <a:xfrm>
            <a:off x="3566160" y="4718304"/>
            <a:ext cx="777240" cy="256032"/>
          </a:xfrm>
          <a:prstGeom prst="rect">
            <a:avLst/>
          </a:prstGeom>
          <a:noFill/>
          <a:ln/>
        </p:spPr>
        <p:txBody>
          <a:bodyPr wrap="square" lIns="0" tIns="0" rIns="0" bIns="0" rtlCol="0" anchor="ctr"/>
          <a:lstStyle/>
          <a:p>
            <a:pPr indent="0" marL="0">
              <a:buNone/>
            </a:pPr>
            <a:r>
              <a:rPr lang="en-US" sz="950" dirty="0">
                <a:solidFill>
                  <a:srgbClr val="26331F"/>
                </a:solidFill>
                <a:latin typeface="Apple SD Gothic Neo" pitchFamily="34" charset="0"/>
                <a:ea typeface="Apple SD Gothic Neo" pitchFamily="34" charset="-122"/>
                <a:cs typeface="Apple SD Gothic Neo" pitchFamily="34" charset="-120"/>
              </a:rPr>
              <a:t>홍순율</a:t>
            </a:r>
            <a:endParaRPr lang="en-US" sz="950" dirty="0"/>
          </a:p>
        </p:txBody>
      </p:sp>
      <p:sp>
        <p:nvSpPr>
          <p:cNvPr id="55" name="Text 53"/>
          <p:cNvSpPr/>
          <p:nvPr/>
        </p:nvSpPr>
        <p:spPr>
          <a:xfrm>
            <a:off x="4434840" y="4718304"/>
            <a:ext cx="4297680" cy="292608"/>
          </a:xfrm>
          <a:prstGeom prst="rect">
            <a:avLst/>
          </a:prstGeom>
          <a:noFill/>
          <a:ln/>
        </p:spPr>
        <p:txBody>
          <a:bodyPr wrap="square" lIns="0" tIns="0" rIns="0" bIns="0" rtlCol="0" anchor="ctr"/>
          <a:lstStyle/>
          <a:p>
            <a:pPr algn="r" indent="0" marL="0">
              <a:buNone/>
            </a:pPr>
            <a:r>
              <a:rPr lang="en-US" sz="900" dirty="0">
                <a:solidFill>
                  <a:srgbClr val="5C6B52"/>
                </a:solidFill>
                <a:latin typeface="Apple SD Gothic Neo" pitchFamily="34" charset="0"/>
                <a:ea typeface="Apple SD Gothic Neo" pitchFamily="34" charset="-122"/>
                <a:cs typeface="Apple SD Gothic Neo" pitchFamily="34" charset="-120"/>
              </a:rPr>
              <a:t>색 = 담당 조원 · * = 추상 메서드 · 종별 행동은 act()만 구현(템플릿 메서드)</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0"/>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600" b="1" dirty="0">
                <a:solidFill>
                  <a:srgbClr val="1E3D1F"/>
                </a:solidFill>
                <a:latin typeface="Apple SD Gothic Neo" pitchFamily="34" charset="0"/>
                <a:ea typeface="Apple SD Gothic Neo" pitchFamily="34" charset="-122"/>
                <a:cs typeface="Apple SD Gothic Neo" pitchFamily="34" charset="-120"/>
              </a:rPr>
              <a:t>역할 분담과 개발 순서</a:t>
            </a:r>
            <a:endParaRPr lang="en-US" sz="2600" dirty="0"/>
          </a:p>
        </p:txBody>
      </p:sp>
      <p:sp>
        <p:nvSpPr>
          <p:cNvPr id="3" name="Text 1"/>
          <p:cNvSpPr/>
          <p:nvPr/>
        </p:nvSpPr>
        <p:spPr>
          <a:xfrm>
            <a:off x="457200" y="658368"/>
            <a:ext cx="8229600" cy="274320"/>
          </a:xfrm>
          <a:prstGeom prst="rect">
            <a:avLst/>
          </a:prstGeom>
          <a:noFill/>
          <a:ln/>
        </p:spPr>
        <p:txBody>
          <a:bodyPr wrap="square" lIns="0" tIns="0" rIns="0" bIns="0" rtlCol="0" anchor="ctr"/>
          <a:lstStyle/>
          <a:p>
            <a:pPr indent="0" marL="0">
              <a:buNone/>
            </a:pPr>
            <a:r>
              <a:rPr lang="en-US" sz="1200" dirty="0">
                <a:solidFill>
                  <a:srgbClr val="5C6B52"/>
                </a:solidFill>
                <a:latin typeface="Apple SD Gothic Neo" pitchFamily="34" charset="0"/>
                <a:ea typeface="Apple SD Gothic Neo" pitchFamily="34" charset="-122"/>
                <a:cs typeface="Apple SD Gothic Neo" pitchFamily="34" charset="-120"/>
              </a:rPr>
              <a:t>원칙: 부모 클래스와 World의 인터페이스를 먼저 고정하면, 나머지는 동시에 병렬 개발</a:t>
            </a:r>
            <a:endParaRPr lang="en-US" sz="1200" dirty="0"/>
          </a:p>
        </p:txBody>
      </p:sp>
      <p:sp>
        <p:nvSpPr>
          <p:cNvPr id="4" name="Shape 2"/>
          <p:cNvSpPr/>
          <p:nvPr/>
        </p:nvSpPr>
        <p:spPr>
          <a:xfrm>
            <a:off x="365760" y="1143000"/>
            <a:ext cx="2697480" cy="160020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5" name="Shape 3"/>
          <p:cNvSpPr/>
          <p:nvPr/>
        </p:nvSpPr>
        <p:spPr>
          <a:xfrm>
            <a:off x="365760" y="1143000"/>
            <a:ext cx="457200" cy="1600200"/>
          </a:xfrm>
          <a:prstGeom prst="rect">
            <a:avLst/>
          </a:prstGeom>
          <a:solidFill>
            <a:srgbClr val="44617B"/>
          </a:solidFill>
          <a:ln/>
        </p:spPr>
      </p:sp>
      <p:sp>
        <p:nvSpPr>
          <p:cNvPr id="6" name="Text 4"/>
          <p:cNvSpPr/>
          <p:nvPr/>
        </p:nvSpPr>
        <p:spPr>
          <a:xfrm>
            <a:off x="365760" y="1188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①</a:t>
            </a:r>
            <a:endParaRPr lang="en-US" sz="1800" dirty="0"/>
          </a:p>
        </p:txBody>
      </p:sp>
      <p:sp>
        <p:nvSpPr>
          <p:cNvPr id="7" name="Text 5"/>
          <p:cNvSpPr/>
          <p:nvPr/>
        </p:nvSpPr>
        <p:spPr>
          <a:xfrm>
            <a:off x="932688" y="1252728"/>
            <a:ext cx="2057400" cy="1417320"/>
          </a:xfrm>
          <a:prstGeom prst="rect">
            <a:avLst/>
          </a:prstGeom>
          <a:noFill/>
          <a:ln/>
        </p:spPr>
        <p:txBody>
          <a:bodyPr wrap="square" lIns="0" tIns="0" rIns="0" bIns="0" rtlCol="0" anchor="t"/>
          <a:lstStyle/>
          <a:p>
            <a:pPr indent="0" marL="0">
              <a:lnSpc>
                <a:spcPct val="105000"/>
              </a:lnSpc>
              <a:spcAft>
                <a:spcPts val="400"/>
              </a:spcAft>
              <a:buNone/>
            </a:pPr>
            <a:r>
              <a:rPr lang="en-US" sz="1350" b="1" dirty="0">
                <a:solidFill>
                  <a:srgbClr val="26331F"/>
                </a:solidFill>
                <a:latin typeface="Apple SD Gothic Neo" pitchFamily="34" charset="0"/>
                <a:ea typeface="Apple SD Gothic Neo" pitchFamily="34" charset="-122"/>
                <a:cs typeface="Apple SD Gothic Neo" pitchFamily="34" charset="-120"/>
              </a:rPr>
              <a:t>기반</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vector · physics</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config</a:t>
            </a:r>
            <a:endParaRPr lang="en-US" sz="1350" dirty="0"/>
          </a:p>
          <a:p>
            <a:pPr indent="0" marL="0">
              <a:lnSpc>
                <a:spcPct val="105000"/>
              </a:lnSpc>
              <a:buNone/>
            </a:pPr>
            <a:r>
              <a:rPr lang="en-US" sz="1050" b="1" dirty="0">
                <a:solidFill>
                  <a:srgbClr val="44617B"/>
                </a:solidFill>
                <a:latin typeface="Apple SD Gothic Neo" pitchFamily="34" charset="0"/>
                <a:ea typeface="Apple SD Gothic Neo" pitchFamily="34" charset="-122"/>
                <a:cs typeface="Apple SD Gothic Neo" pitchFamily="34" charset="-120"/>
              </a:rPr>
              <a:t>홍순율</a:t>
            </a:r>
            <a:endParaRPr lang="en-US" sz="1350" dirty="0"/>
          </a:p>
        </p:txBody>
      </p:sp>
      <p:sp>
        <p:nvSpPr>
          <p:cNvPr id="8" name="Shape 6"/>
          <p:cNvSpPr/>
          <p:nvPr/>
        </p:nvSpPr>
        <p:spPr>
          <a:xfrm>
            <a:off x="3246120" y="1143000"/>
            <a:ext cx="2697480" cy="160020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3246120" y="1143000"/>
            <a:ext cx="457200" cy="1600200"/>
          </a:xfrm>
          <a:prstGeom prst="rect">
            <a:avLst/>
          </a:prstGeom>
          <a:solidFill>
            <a:srgbClr val="2C5F2D"/>
          </a:solidFill>
          <a:ln/>
        </p:spPr>
      </p:sp>
      <p:sp>
        <p:nvSpPr>
          <p:cNvPr id="10" name="Text 8"/>
          <p:cNvSpPr/>
          <p:nvPr/>
        </p:nvSpPr>
        <p:spPr>
          <a:xfrm>
            <a:off x="3246120" y="1188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②</a:t>
            </a:r>
            <a:endParaRPr lang="en-US" sz="1800" dirty="0"/>
          </a:p>
        </p:txBody>
      </p:sp>
      <p:sp>
        <p:nvSpPr>
          <p:cNvPr id="11" name="Text 9"/>
          <p:cNvSpPr/>
          <p:nvPr/>
        </p:nvSpPr>
        <p:spPr>
          <a:xfrm>
            <a:off x="3813048" y="1252728"/>
            <a:ext cx="2057400" cy="1417320"/>
          </a:xfrm>
          <a:prstGeom prst="rect">
            <a:avLst/>
          </a:prstGeom>
          <a:noFill/>
          <a:ln/>
        </p:spPr>
        <p:txBody>
          <a:bodyPr wrap="square" lIns="0" tIns="0" rIns="0" bIns="0" rtlCol="0" anchor="t"/>
          <a:lstStyle/>
          <a:p>
            <a:pPr indent="0" marL="0">
              <a:lnSpc>
                <a:spcPct val="105000"/>
              </a:lnSpc>
              <a:spcAft>
                <a:spcPts val="400"/>
              </a:spcAft>
              <a:buNone/>
            </a:pPr>
            <a:r>
              <a:rPr lang="en-US" sz="1350" b="1" dirty="0">
                <a:solidFill>
                  <a:srgbClr val="26331F"/>
                </a:solidFill>
                <a:latin typeface="Apple SD Gothic Neo" pitchFamily="34" charset="0"/>
                <a:ea typeface="Apple SD Gothic Neo" pitchFamily="34" charset="-122"/>
                <a:cs typeface="Apple SD Gothic Neo" pitchFamily="34" charset="-120"/>
              </a:rPr>
              <a:t>부모 클래스</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Entity·Animal·Carnivore</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 Herbivore·Plant</a:t>
            </a:r>
            <a:endParaRPr lang="en-US" sz="1350" dirty="0"/>
          </a:p>
          <a:p>
            <a:pPr indent="0" marL="0">
              <a:lnSpc>
                <a:spcPct val="105000"/>
              </a:lnSpc>
              <a:buNone/>
            </a:pPr>
            <a:r>
              <a:rPr lang="en-US" sz="1050" b="1" dirty="0">
                <a:solidFill>
                  <a:srgbClr val="2C5F2D"/>
                </a:solidFill>
                <a:latin typeface="Apple SD Gothic Neo" pitchFamily="34" charset="0"/>
                <a:ea typeface="Apple SD Gothic Neo" pitchFamily="34" charset="-122"/>
                <a:cs typeface="Apple SD Gothic Neo" pitchFamily="34" charset="-120"/>
              </a:rPr>
              <a:t>심성진 + 한시헌</a:t>
            </a:r>
            <a:endParaRPr lang="en-US" sz="1350" dirty="0"/>
          </a:p>
        </p:txBody>
      </p:sp>
      <p:sp>
        <p:nvSpPr>
          <p:cNvPr id="12" name="Shape 10"/>
          <p:cNvSpPr/>
          <p:nvPr/>
        </p:nvSpPr>
        <p:spPr>
          <a:xfrm>
            <a:off x="6126480" y="1143000"/>
            <a:ext cx="2697480" cy="160020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3" name="Shape 11"/>
          <p:cNvSpPr/>
          <p:nvPr/>
        </p:nvSpPr>
        <p:spPr>
          <a:xfrm>
            <a:off x="6126480" y="1143000"/>
            <a:ext cx="457200" cy="1600200"/>
          </a:xfrm>
          <a:prstGeom prst="rect">
            <a:avLst/>
          </a:prstGeom>
          <a:solidFill>
            <a:srgbClr val="E07A2F"/>
          </a:solidFill>
          <a:ln/>
        </p:spPr>
      </p:sp>
      <p:sp>
        <p:nvSpPr>
          <p:cNvPr id="14" name="Text 12"/>
          <p:cNvSpPr/>
          <p:nvPr/>
        </p:nvSpPr>
        <p:spPr>
          <a:xfrm>
            <a:off x="6126480" y="1188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③</a:t>
            </a:r>
            <a:endParaRPr lang="en-US" sz="1800" dirty="0"/>
          </a:p>
        </p:txBody>
      </p:sp>
      <p:sp>
        <p:nvSpPr>
          <p:cNvPr id="15" name="Text 13"/>
          <p:cNvSpPr/>
          <p:nvPr/>
        </p:nvSpPr>
        <p:spPr>
          <a:xfrm>
            <a:off x="6693408" y="1252728"/>
            <a:ext cx="2057400" cy="1417320"/>
          </a:xfrm>
          <a:prstGeom prst="rect">
            <a:avLst/>
          </a:prstGeom>
          <a:noFill/>
          <a:ln/>
        </p:spPr>
        <p:txBody>
          <a:bodyPr wrap="square" lIns="0" tIns="0" rIns="0" bIns="0" rtlCol="0" anchor="t"/>
          <a:lstStyle/>
          <a:p>
            <a:pPr indent="0" marL="0">
              <a:lnSpc>
                <a:spcPct val="105000"/>
              </a:lnSpc>
              <a:spcAft>
                <a:spcPts val="400"/>
              </a:spcAft>
              <a:buNone/>
            </a:pPr>
            <a:r>
              <a:rPr lang="en-US" sz="1350" b="1" dirty="0">
                <a:solidFill>
                  <a:srgbClr val="26331F"/>
                </a:solidFill>
                <a:latin typeface="Apple SD Gothic Neo" pitchFamily="34" charset="0"/>
                <a:ea typeface="Apple SD Gothic Neo" pitchFamily="34" charset="-122"/>
                <a:cs typeface="Apple SD Gothic Neo" pitchFamily="34" charset="-120"/>
              </a:rPr>
              <a:t>동물 (3인 병렬)</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육식 3종 / 토끼·기린·식물</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 얼룩말·코끼리</a:t>
            </a:r>
            <a:endParaRPr lang="en-US" sz="1350" dirty="0"/>
          </a:p>
          <a:p>
            <a:pPr indent="0" marL="0">
              <a:lnSpc>
                <a:spcPct val="105000"/>
              </a:lnSpc>
              <a:buNone/>
            </a:pPr>
            <a:r>
              <a:rPr lang="en-US" sz="1050" b="1" dirty="0">
                <a:solidFill>
                  <a:srgbClr val="E07A2F"/>
                </a:solidFill>
                <a:latin typeface="Apple SD Gothic Neo" pitchFamily="34" charset="0"/>
                <a:ea typeface="Apple SD Gothic Neo" pitchFamily="34" charset="-122"/>
                <a:cs typeface="Apple SD Gothic Neo" pitchFamily="34" charset="-120"/>
              </a:rPr>
              <a:t>심준서·한시헌·심성진</a:t>
            </a:r>
            <a:endParaRPr lang="en-US" sz="1350" dirty="0"/>
          </a:p>
        </p:txBody>
      </p:sp>
      <p:sp>
        <p:nvSpPr>
          <p:cNvPr id="16" name="Shape 14"/>
          <p:cNvSpPr/>
          <p:nvPr/>
        </p:nvSpPr>
        <p:spPr>
          <a:xfrm>
            <a:off x="365760" y="2926080"/>
            <a:ext cx="2697480" cy="160020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365760" y="2926080"/>
            <a:ext cx="457200" cy="1600200"/>
          </a:xfrm>
          <a:prstGeom prst="rect">
            <a:avLst/>
          </a:prstGeom>
          <a:solidFill>
            <a:srgbClr val="2C5F2D"/>
          </a:solidFill>
          <a:ln/>
        </p:spPr>
      </p:sp>
      <p:sp>
        <p:nvSpPr>
          <p:cNvPr id="18" name="Text 16"/>
          <p:cNvSpPr/>
          <p:nvPr/>
        </p:nvSpPr>
        <p:spPr>
          <a:xfrm>
            <a:off x="365760" y="2971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④</a:t>
            </a:r>
            <a:endParaRPr lang="en-US" sz="1800" dirty="0"/>
          </a:p>
        </p:txBody>
      </p:sp>
      <p:sp>
        <p:nvSpPr>
          <p:cNvPr id="19" name="Text 17"/>
          <p:cNvSpPr/>
          <p:nvPr/>
        </p:nvSpPr>
        <p:spPr>
          <a:xfrm>
            <a:off x="932688" y="3035808"/>
            <a:ext cx="2057400" cy="1417320"/>
          </a:xfrm>
          <a:prstGeom prst="rect">
            <a:avLst/>
          </a:prstGeom>
          <a:noFill/>
          <a:ln/>
        </p:spPr>
        <p:txBody>
          <a:bodyPr wrap="square" lIns="0" tIns="0" rIns="0" bIns="0" rtlCol="0" anchor="t"/>
          <a:lstStyle/>
          <a:p>
            <a:pPr indent="0" marL="0">
              <a:lnSpc>
                <a:spcPct val="105000"/>
              </a:lnSpc>
              <a:spcAft>
                <a:spcPts val="400"/>
              </a:spcAft>
              <a:buNone/>
            </a:pPr>
            <a:r>
              <a:rPr lang="en-US" sz="1350" b="1" dirty="0">
                <a:solidFill>
                  <a:srgbClr val="26331F"/>
                </a:solidFill>
                <a:latin typeface="Apple SD Gothic Neo" pitchFamily="34" charset="0"/>
                <a:ea typeface="Apple SD Gothic Neo" pitchFamily="34" charset="-122"/>
                <a:cs typeface="Apple SD Gothic Neo" pitchFamily="34" charset="-120"/>
              </a:rPr>
              <a:t>월드·상호작용</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world.py</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interactions.py</a:t>
            </a:r>
            <a:endParaRPr lang="en-US" sz="1350" dirty="0"/>
          </a:p>
          <a:p>
            <a:pPr indent="0" marL="0">
              <a:lnSpc>
                <a:spcPct val="105000"/>
              </a:lnSpc>
              <a:buNone/>
            </a:pPr>
            <a:r>
              <a:rPr lang="en-US" sz="1050" b="1" dirty="0">
                <a:solidFill>
                  <a:srgbClr val="2C5F2D"/>
                </a:solidFill>
                <a:latin typeface="Apple SD Gothic Neo" pitchFamily="34" charset="0"/>
                <a:ea typeface="Apple SD Gothic Neo" pitchFamily="34" charset="-122"/>
                <a:cs typeface="Apple SD Gothic Neo" pitchFamily="34" charset="-120"/>
              </a:rPr>
              <a:t>심성진 + 심준서</a:t>
            </a:r>
            <a:endParaRPr lang="en-US" sz="1350" dirty="0"/>
          </a:p>
        </p:txBody>
      </p:sp>
      <p:sp>
        <p:nvSpPr>
          <p:cNvPr id="20" name="Shape 18"/>
          <p:cNvSpPr/>
          <p:nvPr/>
        </p:nvSpPr>
        <p:spPr>
          <a:xfrm>
            <a:off x="3246120" y="2926080"/>
            <a:ext cx="2697480" cy="160020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21" name="Shape 19"/>
          <p:cNvSpPr/>
          <p:nvPr/>
        </p:nvSpPr>
        <p:spPr>
          <a:xfrm>
            <a:off x="3246120" y="2926080"/>
            <a:ext cx="457200" cy="1600200"/>
          </a:xfrm>
          <a:prstGeom prst="rect">
            <a:avLst/>
          </a:prstGeom>
          <a:solidFill>
            <a:srgbClr val="44617B"/>
          </a:solidFill>
          <a:ln/>
        </p:spPr>
      </p:sp>
      <p:sp>
        <p:nvSpPr>
          <p:cNvPr id="22" name="Text 20"/>
          <p:cNvSpPr/>
          <p:nvPr/>
        </p:nvSpPr>
        <p:spPr>
          <a:xfrm>
            <a:off x="3246120" y="2971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⑤</a:t>
            </a:r>
            <a:endParaRPr lang="en-US" sz="1800" dirty="0"/>
          </a:p>
        </p:txBody>
      </p:sp>
      <p:sp>
        <p:nvSpPr>
          <p:cNvPr id="23" name="Text 21"/>
          <p:cNvSpPr/>
          <p:nvPr/>
        </p:nvSpPr>
        <p:spPr>
          <a:xfrm>
            <a:off x="3813048" y="3035808"/>
            <a:ext cx="2057400" cy="1417320"/>
          </a:xfrm>
          <a:prstGeom prst="rect">
            <a:avLst/>
          </a:prstGeom>
          <a:noFill/>
          <a:ln/>
        </p:spPr>
        <p:txBody>
          <a:bodyPr wrap="square" lIns="0" tIns="0" rIns="0" bIns="0" rtlCol="0" anchor="t"/>
          <a:lstStyle/>
          <a:p>
            <a:pPr indent="0" marL="0">
              <a:lnSpc>
                <a:spcPct val="105000"/>
              </a:lnSpc>
              <a:spcAft>
                <a:spcPts val="400"/>
              </a:spcAft>
              <a:buNone/>
            </a:pPr>
            <a:r>
              <a:rPr lang="en-US" sz="1350" b="1" dirty="0">
                <a:solidFill>
                  <a:srgbClr val="26331F"/>
                </a:solidFill>
                <a:latin typeface="Apple SD Gothic Neo" pitchFamily="34" charset="0"/>
                <a:ea typeface="Apple SD Gothic Neo" pitchFamily="34" charset="-122"/>
                <a:cs typeface="Apple SD Gothic Neo" pitchFamily="34" charset="-120"/>
              </a:rPr>
              <a:t>화면·종료</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disaster → gui</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 main.py</a:t>
            </a:r>
            <a:endParaRPr lang="en-US" sz="1350" dirty="0"/>
          </a:p>
          <a:p>
            <a:pPr indent="0" marL="0">
              <a:lnSpc>
                <a:spcPct val="105000"/>
              </a:lnSpc>
              <a:buNone/>
            </a:pPr>
            <a:r>
              <a:rPr lang="en-US" sz="1050" b="1" dirty="0">
                <a:solidFill>
                  <a:srgbClr val="44617B"/>
                </a:solidFill>
                <a:latin typeface="Apple SD Gothic Neo" pitchFamily="34" charset="0"/>
                <a:ea typeface="Apple SD Gothic Neo" pitchFamily="34" charset="-122"/>
                <a:cs typeface="Apple SD Gothic Neo" pitchFamily="34" charset="-120"/>
              </a:rPr>
              <a:t>홍순율</a:t>
            </a:r>
            <a:endParaRPr lang="en-US" sz="1350" dirty="0"/>
          </a:p>
        </p:txBody>
      </p:sp>
      <p:sp>
        <p:nvSpPr>
          <p:cNvPr id="24" name="Shape 22"/>
          <p:cNvSpPr/>
          <p:nvPr/>
        </p:nvSpPr>
        <p:spPr>
          <a:xfrm>
            <a:off x="6126480" y="2926080"/>
            <a:ext cx="2697480" cy="160020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25" name="Shape 23"/>
          <p:cNvSpPr/>
          <p:nvPr/>
        </p:nvSpPr>
        <p:spPr>
          <a:xfrm>
            <a:off x="6126480" y="2926080"/>
            <a:ext cx="457200" cy="1600200"/>
          </a:xfrm>
          <a:prstGeom prst="rect">
            <a:avLst/>
          </a:prstGeom>
          <a:solidFill>
            <a:srgbClr val="1E3D1F"/>
          </a:solidFill>
          <a:ln/>
        </p:spPr>
      </p:sp>
      <p:sp>
        <p:nvSpPr>
          <p:cNvPr id="26" name="Text 24"/>
          <p:cNvSpPr/>
          <p:nvPr/>
        </p:nvSpPr>
        <p:spPr>
          <a:xfrm>
            <a:off x="6126480" y="29718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pple SD Gothic Neo" pitchFamily="34" charset="0"/>
                <a:ea typeface="Apple SD Gothic Neo" pitchFamily="34" charset="-122"/>
                <a:cs typeface="Apple SD Gothic Neo" pitchFamily="34" charset="-120"/>
              </a:rPr>
              <a:t>⑥</a:t>
            </a:r>
            <a:endParaRPr lang="en-US" sz="1800" dirty="0"/>
          </a:p>
        </p:txBody>
      </p:sp>
      <p:sp>
        <p:nvSpPr>
          <p:cNvPr id="27" name="Text 25"/>
          <p:cNvSpPr/>
          <p:nvPr/>
        </p:nvSpPr>
        <p:spPr>
          <a:xfrm>
            <a:off x="6693408" y="3035808"/>
            <a:ext cx="2057400" cy="1417320"/>
          </a:xfrm>
          <a:prstGeom prst="rect">
            <a:avLst/>
          </a:prstGeom>
          <a:noFill/>
          <a:ln/>
        </p:spPr>
        <p:txBody>
          <a:bodyPr wrap="square" lIns="0" tIns="0" rIns="0" bIns="0" rtlCol="0" anchor="t"/>
          <a:lstStyle/>
          <a:p>
            <a:pPr indent="0" marL="0">
              <a:lnSpc>
                <a:spcPct val="105000"/>
              </a:lnSpc>
              <a:spcAft>
                <a:spcPts val="400"/>
              </a:spcAft>
              <a:buNone/>
            </a:pPr>
            <a:r>
              <a:rPr lang="en-US" sz="1350" b="1" dirty="0">
                <a:solidFill>
                  <a:srgbClr val="26331F"/>
                </a:solidFill>
                <a:latin typeface="Apple SD Gothic Neo" pitchFamily="34" charset="0"/>
                <a:ea typeface="Apple SD Gothic Neo" pitchFamily="34" charset="-122"/>
                <a:cs typeface="Apple SD Gothic Neo" pitchFamily="34" charset="-120"/>
              </a:rPr>
              <a:t>마무리</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통합·밸런싱·디버깅</a:t>
            </a:r>
            <a:endParaRPr lang="en-US" sz="1350" dirty="0"/>
          </a:p>
          <a:p>
            <a:pPr indent="0" marL="0">
              <a:lnSpc>
                <a:spcPct val="105000"/>
              </a:lnSpc>
              <a:buNone/>
            </a:pPr>
            <a:r>
              <a:rPr lang="en-US" sz="1050" dirty="0">
                <a:solidFill>
                  <a:srgbClr val="5C6B52"/>
                </a:solidFill>
                <a:latin typeface="Apple SD Gothic Neo" pitchFamily="34" charset="0"/>
                <a:ea typeface="Apple SD Gothic Neo" pitchFamily="34" charset="-122"/>
                <a:cs typeface="Apple SD Gothic Neo" pitchFamily="34" charset="-120"/>
              </a:rPr>
              <a:t>시연영상·발표자료</a:t>
            </a:r>
            <a:endParaRPr lang="en-US" sz="1350" dirty="0"/>
          </a:p>
          <a:p>
            <a:pPr indent="0" marL="0">
              <a:lnSpc>
                <a:spcPct val="105000"/>
              </a:lnSpc>
              <a:buNone/>
            </a:pPr>
            <a:r>
              <a:rPr lang="en-US" sz="1050" b="1" dirty="0">
                <a:solidFill>
                  <a:srgbClr val="1E3D1F"/>
                </a:solidFill>
                <a:latin typeface="Apple SD Gothic Neo" pitchFamily="34" charset="0"/>
                <a:ea typeface="Apple SD Gothic Neo" pitchFamily="34" charset="-122"/>
                <a:cs typeface="Apple SD Gothic Neo" pitchFamily="34" charset="-120"/>
              </a:rPr>
              <a:t>다 함께</a:t>
            </a:r>
            <a:endParaRPr lang="en-US" sz="1350" dirty="0"/>
          </a:p>
        </p:txBody>
      </p:sp>
      <p:sp>
        <p:nvSpPr>
          <p:cNvPr id="28" name="Text 26"/>
          <p:cNvSpPr/>
          <p:nvPr/>
        </p:nvSpPr>
        <p:spPr>
          <a:xfrm>
            <a:off x="457200" y="4736592"/>
            <a:ext cx="8229600" cy="292608"/>
          </a:xfrm>
          <a:prstGeom prst="rect">
            <a:avLst/>
          </a:prstGeom>
          <a:noFill/>
          <a:ln/>
        </p:spPr>
        <p:txBody>
          <a:bodyPr wrap="square" lIns="0" tIns="0" rIns="0" bIns="0" rtlCol="0" anchor="ctr"/>
          <a:lstStyle/>
          <a:p>
            <a:pPr indent="0" marL="0">
              <a:buNone/>
            </a:pPr>
            <a:r>
              <a:rPr lang="en-US" sz="1050" i="1" dirty="0">
                <a:solidFill>
                  <a:srgbClr val="5C6B52"/>
                </a:solidFill>
                <a:latin typeface="Apple SD Gothic Neo" pitchFamily="34" charset="0"/>
                <a:ea typeface="Apple SD Gothic Neo" pitchFamily="34" charset="-122"/>
                <a:cs typeface="Apple SD Gothic Neo" pitchFamily="34" charset="-120"/>
              </a:rPr>
              <a:t>병목 = ② 부모 클래스와 ④ World. 이 둘의 '이름(인터페이스)'만 합의되면 속이 비어 있어도 전원이 병렬로 개발 가능했다.</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0"/>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44617B"/>
          </a:solidFill>
          <a:ln/>
        </p:spPr>
      </p:sp>
      <p:sp>
        <p:nvSpPr>
          <p:cNvPr id="3" name="Text 1"/>
          <p:cNvSpPr/>
          <p:nvPr/>
        </p:nvSpPr>
        <p:spPr>
          <a:xfrm>
            <a:off x="457200" y="201168"/>
            <a:ext cx="8229600" cy="502920"/>
          </a:xfrm>
          <a:prstGeom prst="rect">
            <a:avLst/>
          </a:prstGeom>
          <a:noFill/>
          <a:ln/>
        </p:spPr>
        <p:txBody>
          <a:bodyPr wrap="square" lIns="0" tIns="0" rIns="0" bIns="0" rtlCol="0" anchor="ctr"/>
          <a:lstStyle/>
          <a:p>
            <a:pPr indent="0" marL="0">
              <a:buNone/>
            </a:pPr>
            <a:r>
              <a:rPr lang="en-US" sz="2600" b="1" dirty="0">
                <a:solidFill>
                  <a:srgbClr val="1E3D1F"/>
                </a:solidFill>
                <a:latin typeface="Apple SD Gothic Neo" pitchFamily="34" charset="0"/>
                <a:ea typeface="Apple SD Gothic Neo" pitchFamily="34" charset="-122"/>
                <a:cs typeface="Apple SD Gothic Neo" pitchFamily="34" charset="-120"/>
              </a:rPr>
              <a:t>① 홍순율 — 물리엔진과 화면, 그리고 시작과 끝</a:t>
            </a:r>
            <a:endParaRPr lang="en-US" sz="26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200" dirty="0">
                <a:solidFill>
                  <a:srgbClr val="5C6B52"/>
                </a:solidFill>
                <a:latin typeface="Apple SD Gothic Neo" pitchFamily="34" charset="0"/>
                <a:ea typeface="Apple SD Gothic Neo" pitchFamily="34" charset="-122"/>
                <a:cs typeface="Apple SD Gothic Neo" pitchFamily="34" charset="-120"/>
              </a:rPr>
              <a:t>vector.py · physics.py · config.py · gui.py · disaster.py · main.py</a:t>
            </a:r>
            <a:endParaRPr lang="en-US" sz="1200" dirty="0"/>
          </a:p>
        </p:txBody>
      </p:sp>
      <p:sp>
        <p:nvSpPr>
          <p:cNvPr id="5" name="Shape 3"/>
          <p:cNvSpPr/>
          <p:nvPr/>
        </p:nvSpPr>
        <p:spPr>
          <a:xfrm>
            <a:off x="457200" y="1097280"/>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621792" y="1271016"/>
            <a:ext cx="384048" cy="384048"/>
          </a:xfrm>
          <a:prstGeom prst="ellipse">
            <a:avLst/>
          </a:prstGeom>
          <a:solidFill>
            <a:srgbClr val="44617B"/>
          </a:solidFill>
          <a:ln/>
        </p:spPr>
      </p:sp>
      <p:sp>
        <p:nvSpPr>
          <p:cNvPr id="7" name="Text 5"/>
          <p:cNvSpPr/>
          <p:nvPr/>
        </p:nvSpPr>
        <p:spPr>
          <a:xfrm>
            <a:off x="621792" y="1271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t>
            </a:r>
            <a:endParaRPr lang="en-US" sz="1400" dirty="0"/>
          </a:p>
        </p:txBody>
      </p:sp>
      <p:sp>
        <p:nvSpPr>
          <p:cNvPr id="8" name="Text 6"/>
          <p:cNvSpPr/>
          <p:nvPr/>
        </p:nvSpPr>
        <p:spPr>
          <a:xfrm>
            <a:off x="1143000" y="1170432"/>
            <a:ext cx="4389120" cy="603504"/>
          </a:xfrm>
          <a:prstGeom prst="rect">
            <a:avLst/>
          </a:prstGeom>
          <a:noFill/>
          <a:ln/>
        </p:spPr>
        <p:txBody>
          <a:bodyPr wrap="square" lIns="0" tIns="0" rIns="0" bIns="0" rtlCol="0" anchor="ctr"/>
          <a:lstStyle/>
          <a:p>
            <a:pPr indent="0" marL="0">
              <a:lnSpc>
                <a:spcPct val="100000"/>
              </a:lnSpc>
              <a:buNone/>
            </a:pPr>
            <a:r>
              <a:rPr lang="en-US" sz="1250" b="1" dirty="0">
                <a:solidFill>
                  <a:srgbClr val="26331F"/>
                </a:solidFill>
                <a:latin typeface="Apple SD Gothic Neo" pitchFamily="34" charset="0"/>
                <a:ea typeface="Apple SD Gothic Neo" pitchFamily="34" charset="-122"/>
                <a:cs typeface="Apple SD Gothic Neo" pitchFamily="34" charset="-120"/>
              </a:rPr>
              <a:t>수식 그대로 읽히는 벡터</a:t>
            </a:r>
            <a:endParaRPr lang="en-US" sz="1250" dirty="0"/>
          </a:p>
          <a:p>
            <a:pPr indent="0" marL="0">
              <a:lnSpc>
                <a:spcPct val="100000"/>
              </a:lnSpc>
              <a:buNone/>
            </a:pPr>
            <a:r>
              <a:rPr lang="en-US" sz="1000" dirty="0">
                <a:solidFill>
                  <a:srgbClr val="5C6B52"/>
                </a:solidFill>
                <a:latin typeface="Apple SD Gothic Neo" pitchFamily="34" charset="0"/>
                <a:ea typeface="Apple SD Gothic Neo" pitchFamily="34" charset="-122"/>
                <a:cs typeface="Apple SD Gothic Neo" pitchFamily="34" charset="-120"/>
              </a:rPr>
              <a:t>연산자 오버로딩으로 물리 공식을 `place + vel × DT` 그대로 코드에 쓴다. __slots__로 실수까지 차단.</a:t>
            </a:r>
            <a:endParaRPr lang="en-US" sz="1250" dirty="0"/>
          </a:p>
        </p:txBody>
      </p:sp>
      <p:sp>
        <p:nvSpPr>
          <p:cNvPr id="9" name="Shape 7"/>
          <p:cNvSpPr/>
          <p:nvPr/>
        </p:nvSpPr>
        <p:spPr>
          <a:xfrm>
            <a:off x="457200" y="1938528"/>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0" name="Shape 8"/>
          <p:cNvSpPr/>
          <p:nvPr/>
        </p:nvSpPr>
        <p:spPr>
          <a:xfrm>
            <a:off x="621792" y="2112264"/>
            <a:ext cx="384048" cy="384048"/>
          </a:xfrm>
          <a:prstGeom prst="ellipse">
            <a:avLst/>
          </a:prstGeom>
          <a:solidFill>
            <a:srgbClr val="44617B"/>
          </a:solidFill>
          <a:ln/>
        </p:spPr>
      </p:sp>
      <p:sp>
        <p:nvSpPr>
          <p:cNvPr id="11" name="Text 9"/>
          <p:cNvSpPr/>
          <p:nvPr/>
        </p:nvSpPr>
        <p:spPr>
          <a:xfrm>
            <a:off x="621792" y="2112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t>
            </a:r>
            <a:endParaRPr lang="en-US" sz="1400" dirty="0"/>
          </a:p>
        </p:txBody>
      </p:sp>
      <p:sp>
        <p:nvSpPr>
          <p:cNvPr id="12" name="Text 10"/>
          <p:cNvSpPr/>
          <p:nvPr/>
        </p:nvSpPr>
        <p:spPr>
          <a:xfrm>
            <a:off x="1143000" y="2011680"/>
            <a:ext cx="4389120" cy="603504"/>
          </a:xfrm>
          <a:prstGeom prst="rect">
            <a:avLst/>
          </a:prstGeom>
          <a:noFill/>
          <a:ln/>
        </p:spPr>
        <p:txBody>
          <a:bodyPr wrap="square" lIns="0" tIns="0" rIns="0" bIns="0" rtlCol="0" anchor="ctr"/>
          <a:lstStyle/>
          <a:p>
            <a:pPr indent="0" marL="0">
              <a:lnSpc>
                <a:spcPct val="100000"/>
              </a:lnSpc>
              <a:buNone/>
            </a:pPr>
            <a:r>
              <a:rPr lang="en-US" sz="1250" b="1" dirty="0">
                <a:solidFill>
                  <a:srgbClr val="26331F"/>
                </a:solidFill>
                <a:latin typeface="Apple SD Gothic Neo" pitchFamily="34" charset="0"/>
                <a:ea typeface="Apple SD Gothic Neo" pitchFamily="34" charset="-122"/>
                <a:cs typeface="Apple SD Gothic Neo" pitchFamily="34" charset="-120"/>
              </a:rPr>
              <a:t>결정과 실행의 분리</a:t>
            </a:r>
            <a:endParaRPr lang="en-US" sz="1250" dirty="0"/>
          </a:p>
          <a:p>
            <a:pPr indent="0" marL="0">
              <a:lnSpc>
                <a:spcPct val="100000"/>
              </a:lnSpc>
              <a:buNone/>
            </a:pPr>
            <a:r>
              <a:rPr lang="en-US" sz="1000" dirty="0">
                <a:solidFill>
                  <a:srgbClr val="5C6B52"/>
                </a:solidFill>
                <a:latin typeface="Apple SD Gothic Neo" pitchFamily="34" charset="0"/>
                <a:ea typeface="Apple SD Gothic Neo" pitchFamily="34" charset="-122"/>
                <a:cs typeface="Apple SD Gothic Neo" pitchFamily="34" charset="-120"/>
              </a:rPr>
              <a:t>seek·flee·wander 조향이 '어디로 갈지'만 정하면, 오일러 적분(integrate)이 실제 위치에 반영한다.</a:t>
            </a:r>
            <a:endParaRPr lang="en-US" sz="1250" dirty="0"/>
          </a:p>
        </p:txBody>
      </p:sp>
      <p:sp>
        <p:nvSpPr>
          <p:cNvPr id="13" name="Shape 11"/>
          <p:cNvSpPr/>
          <p:nvPr/>
        </p:nvSpPr>
        <p:spPr>
          <a:xfrm>
            <a:off x="457200" y="2779776"/>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621792" y="2953512"/>
            <a:ext cx="384048" cy="384048"/>
          </a:xfrm>
          <a:prstGeom prst="ellipse">
            <a:avLst/>
          </a:prstGeom>
          <a:solidFill>
            <a:srgbClr val="44617B"/>
          </a:solidFill>
          <a:ln/>
        </p:spPr>
      </p:sp>
      <p:sp>
        <p:nvSpPr>
          <p:cNvPr id="15" name="Text 13"/>
          <p:cNvSpPr/>
          <p:nvPr/>
        </p:nvSpPr>
        <p:spPr>
          <a:xfrm>
            <a:off x="621792" y="2953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a:t>
            </a:r>
            <a:endParaRPr lang="en-US" sz="1400" dirty="0"/>
          </a:p>
        </p:txBody>
      </p:sp>
      <p:sp>
        <p:nvSpPr>
          <p:cNvPr id="16" name="Text 14"/>
          <p:cNvSpPr/>
          <p:nvPr/>
        </p:nvSpPr>
        <p:spPr>
          <a:xfrm>
            <a:off x="1143000" y="2852928"/>
            <a:ext cx="4389120" cy="603504"/>
          </a:xfrm>
          <a:prstGeom prst="rect">
            <a:avLst/>
          </a:prstGeom>
          <a:noFill/>
          <a:ln/>
        </p:spPr>
        <p:txBody>
          <a:bodyPr wrap="square" lIns="0" tIns="0" rIns="0" bIns="0" rtlCol="0" anchor="ctr"/>
          <a:lstStyle/>
          <a:p>
            <a:pPr indent="0" marL="0">
              <a:lnSpc>
                <a:spcPct val="100000"/>
              </a:lnSpc>
              <a:buNone/>
            </a:pPr>
            <a:r>
              <a:rPr lang="en-US" sz="1250" b="1" dirty="0">
                <a:solidFill>
                  <a:srgbClr val="26331F"/>
                </a:solidFill>
                <a:latin typeface="Apple SD Gothic Neo" pitchFamily="34" charset="0"/>
                <a:ea typeface="Apple SD Gothic Neo" pitchFamily="34" charset="-122"/>
                <a:cs typeface="Apple SD Gothic Neo" pitchFamily="34" charset="-120"/>
              </a:rPr>
              <a:t>tkinter만으로 만든 GUI</a:t>
            </a:r>
            <a:endParaRPr lang="en-US" sz="1250" dirty="0"/>
          </a:p>
          <a:p>
            <a:pPr indent="0" marL="0">
              <a:lnSpc>
                <a:spcPct val="100000"/>
              </a:lnSpc>
              <a:buNone/>
            </a:pPr>
            <a:r>
              <a:rPr lang="en-US" sz="1000" dirty="0">
                <a:solidFill>
                  <a:srgbClr val="5C6B52"/>
                </a:solidFill>
                <a:latin typeface="Apple SD Gothic Neo" pitchFamily="34" charset="0"/>
                <a:ea typeface="Apple SD Gothic Neo" pitchFamily="34" charset="-122"/>
                <a:cs typeface="Apple SD Gothic Neo" pitchFamily="34" charset="-120"/>
              </a:rPr>
              <a:t>after() 게임 루프 — 매 프레임 한 틱 + 다시 그리기. 체력바·기절 고리·통계·일지 시각화, 한/영 키 문제까지 해결.</a:t>
            </a:r>
            <a:endParaRPr lang="en-US" sz="1250" dirty="0"/>
          </a:p>
        </p:txBody>
      </p:sp>
      <p:sp>
        <p:nvSpPr>
          <p:cNvPr id="17" name="Shape 15"/>
          <p:cNvSpPr/>
          <p:nvPr/>
        </p:nvSpPr>
        <p:spPr>
          <a:xfrm>
            <a:off x="5897880" y="1097280"/>
            <a:ext cx="2834640" cy="2468880"/>
          </a:xfrm>
          <a:prstGeom prst="rect">
            <a:avLst/>
          </a:prstGeom>
          <a:solidFill>
            <a:srgbClr val="1E3D1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8" name="Text 16"/>
          <p:cNvSpPr/>
          <p:nvPr/>
        </p:nvSpPr>
        <p:spPr>
          <a:xfrm>
            <a:off x="5897880" y="1280160"/>
            <a:ext cx="2834640" cy="548640"/>
          </a:xfrm>
          <a:prstGeom prst="rect">
            <a:avLst/>
          </a:prstGeom>
          <a:noFill/>
          <a:ln/>
        </p:spPr>
        <p:txBody>
          <a:bodyPr wrap="square" rtlCol="0" anchor="ctr"/>
          <a:lstStyle/>
          <a:p>
            <a:pPr algn="ctr" indent="0" marL="0">
              <a:buNone/>
            </a:pPr>
            <a:r>
              <a:rPr lang="en-US" sz="3000" dirty="0">
                <a:solidFill>
                  <a:srgbClr val="000000"/>
                </a:solidFill>
                <a:latin typeface="Apple SD Gothic Neo" pitchFamily="34" charset="0"/>
                <a:ea typeface="Apple SD Gothic Neo" pitchFamily="34" charset="-122"/>
                <a:cs typeface="Apple SD Gothic Neo" pitchFamily="34" charset="-120"/>
              </a:rPr>
              <a:t>🚜</a:t>
            </a:r>
            <a:endParaRPr lang="en-US" sz="3000" dirty="0"/>
          </a:p>
        </p:txBody>
      </p:sp>
      <p:sp>
        <p:nvSpPr>
          <p:cNvPr id="19" name="Text 17"/>
          <p:cNvSpPr/>
          <p:nvPr/>
        </p:nvSpPr>
        <p:spPr>
          <a:xfrm>
            <a:off x="6080760" y="1874520"/>
            <a:ext cx="2468880" cy="1600200"/>
          </a:xfrm>
          <a:prstGeom prst="rect">
            <a:avLst/>
          </a:prstGeom>
          <a:noFill/>
          <a:ln/>
        </p:spPr>
        <p:txBody>
          <a:bodyPr wrap="square" lIns="0" tIns="0" rIns="0" bIns="0" rtlCol="0" anchor="t"/>
          <a:lstStyle/>
          <a:p>
            <a:pPr indent="0" marL="0">
              <a:spcAft>
                <a:spcPts val="600"/>
              </a:spcAft>
              <a:buNone/>
            </a:pPr>
            <a:r>
              <a:rPr lang="en-US" sz="1400" b="1" dirty="0">
                <a:solidFill>
                  <a:srgbClr val="FFD54F"/>
                </a:solidFill>
                <a:latin typeface="Apple SD Gothic Neo" pitchFamily="34" charset="0"/>
                <a:ea typeface="Apple SD Gothic Neo" pitchFamily="34" charset="-122"/>
                <a:cs typeface="Apple SD Gothic Neo" pitchFamily="34" charset="-120"/>
              </a:rPr>
              <a:t>종료를 '사건'으로</a:t>
            </a:r>
            <a:endParaRPr lang="en-US" sz="1400" dirty="0"/>
          </a:p>
          <a:p>
            <a:pPr indent="0" marL="0">
              <a:spcAft>
                <a:spcPts val="500"/>
              </a:spcAft>
              <a:buNone/>
            </a:pPr>
            <a:r>
              <a:rPr lang="en-US" sz="1050" dirty="0">
                <a:solidFill>
                  <a:srgbClr val="E8EFDC"/>
                </a:solidFill>
                <a:latin typeface="Apple SD Gothic Neo" pitchFamily="34" charset="0"/>
                <a:ea typeface="Apple SD Gothic Neo" pitchFamily="34" charset="-122"/>
                <a:cs typeface="Apple SD Gothic Neo" pitchFamily="34" charset="-120"/>
              </a:rPr>
              <a:t>D키 → 트랙터 무리가 초원 전체 높이를 덮도록 자동 계산되어 등장, 화면을 가로지르며 모든 생물을 밀어버린다.</a:t>
            </a:r>
            <a:endParaRPr lang="en-US" sz="1400" dirty="0"/>
          </a:p>
          <a:p>
            <a:pPr indent="0" marL="0">
              <a:buNone/>
            </a:pPr>
            <a:r>
              <a:rPr lang="en-US" sz="1050" i="1" dirty="0">
                <a:solidFill>
                  <a:srgbClr val="C9DBA3"/>
                </a:solidFill>
                <a:latin typeface="Apple SD Gothic Neo" pitchFamily="34" charset="0"/>
                <a:ea typeface="Apple SD Gothic Neo" pitchFamily="34" charset="-122"/>
                <a:cs typeface="Apple SD Gothic Neo" pitchFamily="34" charset="-120"/>
              </a:rPr>
              <a:t>스위치가 아니라 시간의 흐름으로 관찰되는 종료 조건.</a:t>
            </a:r>
            <a:endParaRPr lang="en-US" sz="1400" dirty="0"/>
          </a:p>
        </p:txBody>
      </p:sp>
      <p:sp>
        <p:nvSpPr>
          <p:cNvPr id="20" name="Shape 18"/>
          <p:cNvSpPr/>
          <p:nvPr/>
        </p:nvSpPr>
        <p:spPr>
          <a:xfrm>
            <a:off x="5897880" y="3703320"/>
            <a:ext cx="2834640" cy="86868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21" name="Text 19"/>
          <p:cNvSpPr/>
          <p:nvPr/>
        </p:nvSpPr>
        <p:spPr>
          <a:xfrm>
            <a:off x="6080760" y="3822192"/>
            <a:ext cx="2468880" cy="640080"/>
          </a:xfrm>
          <a:prstGeom prst="rect">
            <a:avLst/>
          </a:prstGeom>
          <a:noFill/>
          <a:ln/>
        </p:spPr>
        <p:txBody>
          <a:bodyPr wrap="square" lIns="0" tIns="0" rIns="0" bIns="0" rtlCol="0" anchor="ctr"/>
          <a:lstStyle/>
          <a:p>
            <a:pPr indent="0" marL="0">
              <a:buNone/>
            </a:pPr>
            <a:r>
              <a:rPr lang="en-US" sz="1150" b="1" dirty="0">
                <a:solidFill>
                  <a:srgbClr val="26331F"/>
                </a:solidFill>
                <a:latin typeface="Apple SD Gothic Neo" pitchFamily="34" charset="0"/>
                <a:ea typeface="Apple SD Gothic Neo" pitchFamily="34" charset="-122"/>
                <a:cs typeface="Apple SD Gothic Neo" pitchFamily="34" charset="-120"/>
              </a:rPr>
              <a:t>main.py — 진입점</a:t>
            </a:r>
            <a:endParaRPr lang="en-US" sz="11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python3 main.py 한 줄, 추가 설치 0개</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0"/>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07A2F"/>
          </a:solidFill>
          <a:ln/>
        </p:spPr>
      </p:sp>
      <p:sp>
        <p:nvSpPr>
          <p:cNvPr id="3" name="Text 1"/>
          <p:cNvSpPr/>
          <p:nvPr/>
        </p:nvSpPr>
        <p:spPr>
          <a:xfrm>
            <a:off x="457200" y="201168"/>
            <a:ext cx="8229600" cy="502920"/>
          </a:xfrm>
          <a:prstGeom prst="rect">
            <a:avLst/>
          </a:prstGeom>
          <a:noFill/>
          <a:ln/>
        </p:spPr>
        <p:txBody>
          <a:bodyPr wrap="square" lIns="0" tIns="0" rIns="0" bIns="0" rtlCol="0" anchor="ctr"/>
          <a:lstStyle/>
          <a:p>
            <a:pPr indent="0" marL="0">
              <a:buNone/>
            </a:pPr>
            <a:r>
              <a:rPr lang="en-US" sz="2600" b="1" dirty="0">
                <a:solidFill>
                  <a:srgbClr val="1E3D1F"/>
                </a:solidFill>
                <a:latin typeface="Apple SD Gothic Neo" pitchFamily="34" charset="0"/>
                <a:ea typeface="Apple SD Gothic Neo" pitchFamily="34" charset="-122"/>
                <a:cs typeface="Apple SD Gothic Neo" pitchFamily="34" charset="-120"/>
              </a:rPr>
              <a:t>② 심준서 — 포식자의 능력과 '사건'의 중재</a:t>
            </a:r>
            <a:endParaRPr lang="en-US" sz="26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200" dirty="0">
                <a:solidFill>
                  <a:srgbClr val="5C6B52"/>
                </a:solidFill>
                <a:latin typeface="Apple SD Gothic Neo" pitchFamily="34" charset="0"/>
                <a:ea typeface="Apple SD Gothic Neo" pitchFamily="34" charset="-122"/>
                <a:cs typeface="Apple SD Gothic Neo" pitchFamily="34" charset="-120"/>
              </a:rPr>
              <a:t>carnivores.py · interactions.py</a:t>
            </a:r>
            <a:endParaRPr lang="en-US" sz="1200" dirty="0"/>
          </a:p>
        </p:txBody>
      </p:sp>
      <p:sp>
        <p:nvSpPr>
          <p:cNvPr id="5" name="Shape 3"/>
          <p:cNvSpPr/>
          <p:nvPr/>
        </p:nvSpPr>
        <p:spPr>
          <a:xfrm>
            <a:off x="457200" y="1097280"/>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6" name="Text 4"/>
          <p:cNvSpPr/>
          <p:nvPr/>
        </p:nvSpPr>
        <p:spPr>
          <a:xfrm>
            <a:off x="566928" y="1216152"/>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Apple SD Gothic Neo" pitchFamily="34" charset="0"/>
                <a:ea typeface="Apple SD Gothic Neo" pitchFamily="34" charset="-122"/>
                <a:cs typeface="Apple SD Gothic Neo" pitchFamily="34" charset="-120"/>
              </a:rPr>
              <a:t>🦁</a:t>
            </a:r>
            <a:endParaRPr lang="en-US" sz="2200" dirty="0"/>
          </a:p>
        </p:txBody>
      </p:sp>
      <p:sp>
        <p:nvSpPr>
          <p:cNvPr id="7" name="Text 5"/>
          <p:cNvSpPr/>
          <p:nvPr/>
        </p:nvSpPr>
        <p:spPr>
          <a:xfrm>
            <a:off x="1143000" y="1170432"/>
            <a:ext cx="4389120" cy="603504"/>
          </a:xfrm>
          <a:prstGeom prst="rect">
            <a:avLst/>
          </a:prstGeom>
          <a:noFill/>
          <a:ln/>
        </p:spPr>
        <p:txBody>
          <a:bodyPr wrap="square" lIns="0" tIns="0" rIns="0" bIns="0" rtlCol="0" anchor="ctr"/>
          <a:lstStyle/>
          <a:p>
            <a:pPr indent="0" marL="0">
              <a:buNone/>
            </a:pPr>
            <a:r>
              <a:rPr lang="en-US" sz="1250" b="1" dirty="0">
                <a:solidFill>
                  <a:srgbClr val="26331F"/>
                </a:solidFill>
                <a:latin typeface="Apple SD Gothic Neo" pitchFamily="34" charset="0"/>
                <a:ea typeface="Apple SD Gothic Neo" pitchFamily="34" charset="-122"/>
                <a:cs typeface="Apple SD Gothic Neo" pitchFamily="34" charset="-120"/>
              </a:rPr>
              <a:t>사자 roar()</a:t>
            </a:r>
            <a:endParaRPr lang="en-US" sz="12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주변 전체 둔화 — 동료 포식자까지 느려지는 '양날의 검'</a:t>
            </a:r>
            <a:endParaRPr lang="en-US" sz="1250" dirty="0"/>
          </a:p>
        </p:txBody>
      </p:sp>
      <p:sp>
        <p:nvSpPr>
          <p:cNvPr id="8" name="Shape 6"/>
          <p:cNvSpPr/>
          <p:nvPr/>
        </p:nvSpPr>
        <p:spPr>
          <a:xfrm>
            <a:off x="457200" y="1938528"/>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566928" y="20574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Apple SD Gothic Neo" pitchFamily="34" charset="0"/>
                <a:ea typeface="Apple SD Gothic Neo" pitchFamily="34" charset="-122"/>
                <a:cs typeface="Apple SD Gothic Neo" pitchFamily="34" charset="-120"/>
              </a:rPr>
              <a:t>🐆</a:t>
            </a:r>
            <a:endParaRPr lang="en-US" sz="2200" dirty="0"/>
          </a:p>
        </p:txBody>
      </p:sp>
      <p:sp>
        <p:nvSpPr>
          <p:cNvPr id="10" name="Text 8"/>
          <p:cNvSpPr/>
          <p:nvPr/>
        </p:nvSpPr>
        <p:spPr>
          <a:xfrm>
            <a:off x="1143000" y="2011680"/>
            <a:ext cx="4389120" cy="603504"/>
          </a:xfrm>
          <a:prstGeom prst="rect">
            <a:avLst/>
          </a:prstGeom>
          <a:noFill/>
          <a:ln/>
        </p:spPr>
        <p:txBody>
          <a:bodyPr wrap="square" lIns="0" tIns="0" rIns="0" bIns="0" rtlCol="0" anchor="ctr"/>
          <a:lstStyle/>
          <a:p>
            <a:pPr indent="0" marL="0">
              <a:buNone/>
            </a:pPr>
            <a:r>
              <a:rPr lang="en-US" sz="1250" b="1" dirty="0">
                <a:solidFill>
                  <a:srgbClr val="26331F"/>
                </a:solidFill>
                <a:latin typeface="Apple SD Gothic Neo" pitchFamily="34" charset="0"/>
                <a:ea typeface="Apple SD Gothic Neo" pitchFamily="34" charset="-122"/>
                <a:cs typeface="Apple SD Gothic Neo" pitchFamily="34" charset="-120"/>
              </a:rPr>
              <a:t>치타 boost()</a:t>
            </a:r>
            <a:endParaRPr lang="en-US" sz="12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먹이가 멀 때만 1.8배 가속 — 실제로 발동되는 트리거 거리로 튜닝</a:t>
            </a:r>
            <a:endParaRPr lang="en-US" sz="1250" dirty="0"/>
          </a:p>
        </p:txBody>
      </p:sp>
      <p:sp>
        <p:nvSpPr>
          <p:cNvPr id="11" name="Shape 9"/>
          <p:cNvSpPr/>
          <p:nvPr/>
        </p:nvSpPr>
        <p:spPr>
          <a:xfrm>
            <a:off x="457200" y="2779776"/>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2" name="Text 10"/>
          <p:cNvSpPr/>
          <p:nvPr/>
        </p:nvSpPr>
        <p:spPr>
          <a:xfrm>
            <a:off x="566928" y="2898648"/>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Apple SD Gothic Neo" pitchFamily="34" charset="0"/>
                <a:ea typeface="Apple SD Gothic Neo" pitchFamily="34" charset="-122"/>
                <a:cs typeface="Apple SD Gothic Neo" pitchFamily="34" charset="-120"/>
              </a:rPr>
              <a:t>🐺</a:t>
            </a:r>
            <a:endParaRPr lang="en-US" sz="2200" dirty="0"/>
          </a:p>
        </p:txBody>
      </p:sp>
      <p:sp>
        <p:nvSpPr>
          <p:cNvPr id="13" name="Text 11"/>
          <p:cNvSpPr/>
          <p:nvPr/>
        </p:nvSpPr>
        <p:spPr>
          <a:xfrm>
            <a:off x="1143000" y="2852928"/>
            <a:ext cx="4389120" cy="603504"/>
          </a:xfrm>
          <a:prstGeom prst="rect">
            <a:avLst/>
          </a:prstGeom>
          <a:noFill/>
          <a:ln/>
        </p:spPr>
        <p:txBody>
          <a:bodyPr wrap="square" lIns="0" tIns="0" rIns="0" bIns="0" rtlCol="0" anchor="ctr"/>
          <a:lstStyle/>
          <a:p>
            <a:pPr indent="0" marL="0">
              <a:buNone/>
            </a:pPr>
            <a:r>
              <a:rPr lang="en-US" sz="1250" b="1" dirty="0">
                <a:solidFill>
                  <a:srgbClr val="26331F"/>
                </a:solidFill>
                <a:latin typeface="Apple SD Gothic Neo" pitchFamily="34" charset="0"/>
                <a:ea typeface="Apple SD Gothic Neo" pitchFamily="34" charset="-122"/>
                <a:cs typeface="Apple SD Gothic Neo" pitchFamily="34" charset="-120"/>
              </a:rPr>
              <a:t>하이에나 steal()</a:t>
            </a:r>
            <a:endParaRPr lang="en-US" sz="12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사냥 중인 사자·치타에 끼어들어 65% 확률로 먹이를 가로챔</a:t>
            </a:r>
            <a:endParaRPr lang="en-US" sz="1250" dirty="0"/>
          </a:p>
        </p:txBody>
      </p:sp>
      <p:sp>
        <p:nvSpPr>
          <p:cNvPr id="14" name="Shape 12"/>
          <p:cNvSpPr/>
          <p:nvPr/>
        </p:nvSpPr>
        <p:spPr>
          <a:xfrm>
            <a:off x="5897880" y="1097280"/>
            <a:ext cx="2834640" cy="2468880"/>
          </a:xfrm>
          <a:prstGeom prst="rect">
            <a:avLst/>
          </a:prstGeom>
          <a:solidFill>
            <a:srgbClr val="E07A2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5" name="Text 13"/>
          <p:cNvSpPr/>
          <p:nvPr/>
        </p:nvSpPr>
        <p:spPr>
          <a:xfrm>
            <a:off x="6080760" y="1325880"/>
            <a:ext cx="2468880" cy="210312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pple SD Gothic Neo" pitchFamily="34" charset="0"/>
                <a:ea typeface="Apple SD Gothic Neo" pitchFamily="34" charset="-122"/>
                <a:cs typeface="Apple SD Gothic Neo" pitchFamily="34" charset="-120"/>
              </a:rPr>
              <a:t>공격 ≠ 먹기</a:t>
            </a:r>
            <a:endParaRPr lang="en-US" sz="1600" dirty="0"/>
          </a:p>
          <a:p>
            <a:pPr indent="0" marL="0">
              <a:spcAft>
                <a:spcPts val="500"/>
              </a:spcAft>
              <a:buNone/>
            </a:pPr>
            <a:r>
              <a:rPr lang="en-US" sz="1100" dirty="0">
                <a:solidFill>
                  <a:srgbClr val="FFF3E0"/>
                </a:solidFill>
                <a:latin typeface="Apple SD Gothic Neo" pitchFamily="34" charset="0"/>
                <a:ea typeface="Apple SD Gothic Neo" pitchFamily="34" charset="-122"/>
                <a:cs typeface="Apple SD Gothic Neo" pitchFamily="34" charset="-120"/>
              </a:rPr>
              <a:t>attack()은 피해만 주고, '누가 먹는가'는 interactions가 결정.</a:t>
            </a:r>
            <a:endParaRPr lang="en-US" sz="1600" dirty="0"/>
          </a:p>
          <a:p>
            <a:pPr indent="0" marL="0">
              <a:buNone/>
            </a:pPr>
            <a:r>
              <a:rPr lang="en-US" sz="1100" i="1" dirty="0">
                <a:solidFill>
                  <a:srgbClr val="FFE0B2"/>
                </a:solidFill>
                <a:latin typeface="Apple SD Gothic Neo" pitchFamily="34" charset="0"/>
                <a:ea typeface="Apple SD Gothic Neo" pitchFamily="34" charset="-122"/>
                <a:cs typeface="Apple SD Gothic Neo" pitchFamily="34" charset="-120"/>
              </a:rPr>
              <a:t>이 분리 덕분에 하이에나의 가로채기가 자연스럽게 구현된다 — 누가 죽였든, 먹는 쪽은 다를 수 있다.</a:t>
            </a:r>
            <a:endParaRPr lang="en-US" sz="1600" dirty="0"/>
          </a:p>
        </p:txBody>
      </p:sp>
      <p:sp>
        <p:nvSpPr>
          <p:cNvPr id="16" name="Shape 14"/>
          <p:cNvSpPr/>
          <p:nvPr/>
        </p:nvSpPr>
        <p:spPr>
          <a:xfrm>
            <a:off x="5897880" y="3703320"/>
            <a:ext cx="2834640" cy="86868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7" name="Text 15"/>
          <p:cNvSpPr/>
          <p:nvPr/>
        </p:nvSpPr>
        <p:spPr>
          <a:xfrm>
            <a:off x="6080760" y="3803904"/>
            <a:ext cx="2514600" cy="685800"/>
          </a:xfrm>
          <a:prstGeom prst="rect">
            <a:avLst/>
          </a:prstGeom>
          <a:noFill/>
          <a:ln/>
        </p:spPr>
        <p:txBody>
          <a:bodyPr wrap="square" lIns="0" tIns="0" rIns="0" bIns="0" rtlCol="0" anchor="ctr"/>
          <a:lstStyle/>
          <a:p>
            <a:pPr indent="0" marL="0">
              <a:buNone/>
            </a:pPr>
            <a:r>
              <a:rPr lang="en-US" sz="1150" b="1" dirty="0">
                <a:solidFill>
                  <a:srgbClr val="26331F"/>
                </a:solidFill>
                <a:latin typeface="Apple SD Gothic Neo" pitchFamily="34" charset="0"/>
                <a:ea typeface="Apple SD Gothic Neo" pitchFamily="34" charset="-122"/>
                <a:cs typeface="Apple SD Gothic Neo" pitchFamily="34" charset="-120"/>
              </a:rPr>
              <a:t>interactions.py — 매 틱의 중재자</a:t>
            </a:r>
            <a:endParaRPr lang="en-US" sz="11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풀 먹기 → 사냥(+약탈) → 기린 싸움 → 번식. 번식 조건은 멸종 방지를 위해 완화.</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0"/>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97BC62"/>
          </a:solidFill>
          <a:ln/>
        </p:spPr>
      </p:sp>
      <p:sp>
        <p:nvSpPr>
          <p:cNvPr id="3" name="Text 1"/>
          <p:cNvSpPr/>
          <p:nvPr/>
        </p:nvSpPr>
        <p:spPr>
          <a:xfrm>
            <a:off x="457200" y="201168"/>
            <a:ext cx="8229600" cy="502920"/>
          </a:xfrm>
          <a:prstGeom prst="rect">
            <a:avLst/>
          </a:prstGeom>
          <a:noFill/>
          <a:ln/>
        </p:spPr>
        <p:txBody>
          <a:bodyPr wrap="square" lIns="0" tIns="0" rIns="0" bIns="0" rtlCol="0" anchor="ctr"/>
          <a:lstStyle/>
          <a:p>
            <a:pPr indent="0" marL="0">
              <a:buNone/>
            </a:pPr>
            <a:r>
              <a:rPr lang="en-US" sz="2600" b="1" dirty="0">
                <a:solidFill>
                  <a:srgbClr val="1E3D1F"/>
                </a:solidFill>
                <a:latin typeface="Apple SD Gothic Neo" pitchFamily="34" charset="0"/>
                <a:ea typeface="Apple SD Gothic Neo" pitchFamily="34" charset="-122"/>
                <a:cs typeface="Apple SD Gothic Neo" pitchFamily="34" charset="-120"/>
              </a:rPr>
              <a:t>③ 한시헌 — 초식동물의 생존 본능과 식물</a:t>
            </a:r>
            <a:endParaRPr lang="en-US" sz="2600" dirty="0"/>
          </a:p>
        </p:txBody>
      </p:sp>
      <p:sp>
        <p:nvSpPr>
          <p:cNvPr id="4" name="Text 2"/>
          <p:cNvSpPr/>
          <p:nvPr/>
        </p:nvSpPr>
        <p:spPr>
          <a:xfrm>
            <a:off x="457200" y="658368"/>
            <a:ext cx="8229600" cy="274320"/>
          </a:xfrm>
          <a:prstGeom prst="rect">
            <a:avLst/>
          </a:prstGeom>
          <a:noFill/>
          <a:ln/>
        </p:spPr>
        <p:txBody>
          <a:bodyPr wrap="square" lIns="0" tIns="0" rIns="0" bIns="0" rtlCol="0" anchor="ctr"/>
          <a:lstStyle/>
          <a:p>
            <a:pPr indent="0" marL="0">
              <a:buNone/>
            </a:pPr>
            <a:r>
              <a:rPr lang="en-US" sz="1200" dirty="0">
                <a:solidFill>
                  <a:srgbClr val="5C6B52"/>
                </a:solidFill>
                <a:latin typeface="Apple SD Gothic Neo" pitchFamily="34" charset="0"/>
                <a:ea typeface="Apple SD Gothic Neo" pitchFamily="34" charset="-122"/>
                <a:cs typeface="Apple SD Gothic Neo" pitchFamily="34" charset="-120"/>
              </a:rPr>
              <a:t>organisms.py(Herbivore·Plant) · herbivores.py(토끼·기린) · plants.py</a:t>
            </a:r>
            <a:endParaRPr lang="en-US" sz="1200" dirty="0"/>
          </a:p>
        </p:txBody>
      </p:sp>
      <p:sp>
        <p:nvSpPr>
          <p:cNvPr id="5" name="Shape 3"/>
          <p:cNvSpPr/>
          <p:nvPr/>
        </p:nvSpPr>
        <p:spPr>
          <a:xfrm>
            <a:off x="457200" y="1097280"/>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6" name="Text 4"/>
          <p:cNvSpPr/>
          <p:nvPr/>
        </p:nvSpPr>
        <p:spPr>
          <a:xfrm>
            <a:off x="566928" y="1216152"/>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Apple SD Gothic Neo" pitchFamily="34" charset="0"/>
                <a:ea typeface="Apple SD Gothic Neo" pitchFamily="34" charset="-122"/>
                <a:cs typeface="Apple SD Gothic Neo" pitchFamily="34" charset="-120"/>
              </a:rPr>
              <a:t>🐇</a:t>
            </a:r>
            <a:endParaRPr lang="en-US" sz="2200" dirty="0"/>
          </a:p>
        </p:txBody>
      </p:sp>
      <p:sp>
        <p:nvSpPr>
          <p:cNvPr id="7" name="Text 5"/>
          <p:cNvSpPr/>
          <p:nvPr/>
        </p:nvSpPr>
        <p:spPr>
          <a:xfrm>
            <a:off x="1143000" y="1170432"/>
            <a:ext cx="4389120" cy="603504"/>
          </a:xfrm>
          <a:prstGeom prst="rect">
            <a:avLst/>
          </a:prstGeom>
          <a:noFill/>
          <a:ln/>
        </p:spPr>
        <p:txBody>
          <a:bodyPr wrap="square" lIns="0" tIns="0" rIns="0" bIns="0" rtlCol="0" anchor="ctr"/>
          <a:lstStyle/>
          <a:p>
            <a:pPr indent="0" marL="0">
              <a:buNone/>
            </a:pPr>
            <a:r>
              <a:rPr lang="en-US" sz="1250" b="1" dirty="0">
                <a:solidFill>
                  <a:srgbClr val="26331F"/>
                </a:solidFill>
                <a:latin typeface="Apple SD Gothic Neo" pitchFamily="34" charset="0"/>
                <a:ea typeface="Apple SD Gothic Neo" pitchFamily="34" charset="-122"/>
                <a:cs typeface="Apple SD Gothic Neo" pitchFamily="34" charset="-120"/>
              </a:rPr>
              <a:t>토끼 hide() · 기린 neckfight()</a:t>
            </a:r>
            <a:endParaRPr lang="en-US" sz="12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풀숲 은신(풀 하나당 3마리 한계) · 넥스윙으로 포식자를 밀쳐내고 피해</a:t>
            </a:r>
            <a:endParaRPr lang="en-US" sz="1250" dirty="0"/>
          </a:p>
        </p:txBody>
      </p:sp>
      <p:sp>
        <p:nvSpPr>
          <p:cNvPr id="8" name="Shape 6"/>
          <p:cNvSpPr/>
          <p:nvPr/>
        </p:nvSpPr>
        <p:spPr>
          <a:xfrm>
            <a:off x="457200" y="1938528"/>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566928" y="205740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Apple SD Gothic Neo" pitchFamily="34" charset="0"/>
                <a:ea typeface="Apple SD Gothic Neo" pitchFamily="34" charset="-122"/>
                <a:cs typeface="Apple SD Gothic Neo" pitchFamily="34" charset="-120"/>
              </a:rPr>
              <a:t>🌿</a:t>
            </a:r>
            <a:endParaRPr lang="en-US" sz="2200" dirty="0"/>
          </a:p>
        </p:txBody>
      </p:sp>
      <p:sp>
        <p:nvSpPr>
          <p:cNvPr id="10" name="Text 8"/>
          <p:cNvSpPr/>
          <p:nvPr/>
        </p:nvSpPr>
        <p:spPr>
          <a:xfrm>
            <a:off x="1143000" y="2011680"/>
            <a:ext cx="4389120" cy="603504"/>
          </a:xfrm>
          <a:prstGeom prst="rect">
            <a:avLst/>
          </a:prstGeom>
          <a:noFill/>
          <a:ln/>
        </p:spPr>
        <p:txBody>
          <a:bodyPr wrap="square" lIns="0" tIns="0" rIns="0" bIns="0" rtlCol="0" anchor="ctr"/>
          <a:lstStyle/>
          <a:p>
            <a:pPr indent="0" marL="0">
              <a:buNone/>
            </a:pPr>
            <a:r>
              <a:rPr lang="en-US" sz="1250" b="1" dirty="0">
                <a:solidFill>
                  <a:srgbClr val="26331F"/>
                </a:solidFill>
                <a:latin typeface="Apple SD Gothic Neo" pitchFamily="34" charset="0"/>
                <a:ea typeface="Apple SD Gothic Neo" pitchFamily="34" charset="-122"/>
                <a:cs typeface="Apple SD Gothic Neo" pitchFamily="34" charset="-120"/>
              </a:rPr>
              <a:t>풀의 자원 관리</a:t>
            </a:r>
            <a:endParaRPr lang="en-US" sz="12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be_eaten()으로 먹힌 양을 풀 스스로 관리, 120틱 후 재성장. 풀 하나당 토끼 3마리 은신 한계</a:t>
            </a:r>
            <a:endParaRPr lang="en-US" sz="1250" dirty="0"/>
          </a:p>
        </p:txBody>
      </p:sp>
      <p:sp>
        <p:nvSpPr>
          <p:cNvPr id="11" name="Shape 9"/>
          <p:cNvSpPr/>
          <p:nvPr/>
        </p:nvSpPr>
        <p:spPr>
          <a:xfrm>
            <a:off x="457200" y="2779776"/>
            <a:ext cx="5212080" cy="73152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2" name="Text 10"/>
          <p:cNvSpPr/>
          <p:nvPr/>
        </p:nvSpPr>
        <p:spPr>
          <a:xfrm>
            <a:off x="566928" y="2898648"/>
            <a:ext cx="502920" cy="502920"/>
          </a:xfrm>
          <a:prstGeom prst="rect">
            <a:avLst/>
          </a:prstGeom>
          <a:noFill/>
          <a:ln/>
        </p:spPr>
        <p:txBody>
          <a:bodyPr wrap="square" lIns="0" tIns="0" rIns="0" bIns="0" rtlCol="0" anchor="ctr"/>
          <a:lstStyle/>
          <a:p>
            <a:pPr algn="ctr" indent="0" marL="0">
              <a:buNone/>
            </a:pPr>
            <a:r>
              <a:rPr lang="en-US" sz="2200" dirty="0">
                <a:solidFill>
                  <a:srgbClr val="000000"/>
                </a:solidFill>
                <a:latin typeface="Apple SD Gothic Neo" pitchFamily="34" charset="0"/>
                <a:ea typeface="Apple SD Gothic Neo" pitchFamily="34" charset="-122"/>
                <a:cs typeface="Apple SD Gothic Neo" pitchFamily="34" charset="-120"/>
              </a:rPr>
              <a:t>🧬</a:t>
            </a:r>
            <a:endParaRPr lang="en-US" sz="2200" dirty="0"/>
          </a:p>
        </p:txBody>
      </p:sp>
      <p:sp>
        <p:nvSpPr>
          <p:cNvPr id="13" name="Text 11"/>
          <p:cNvSpPr/>
          <p:nvPr/>
        </p:nvSpPr>
        <p:spPr>
          <a:xfrm>
            <a:off x="1143000" y="2852928"/>
            <a:ext cx="4389120" cy="603504"/>
          </a:xfrm>
          <a:prstGeom prst="rect">
            <a:avLst/>
          </a:prstGeom>
          <a:noFill/>
          <a:ln/>
        </p:spPr>
        <p:txBody>
          <a:bodyPr wrap="square" lIns="0" tIns="0" rIns="0" bIns="0" rtlCol="0" anchor="ctr"/>
          <a:lstStyle/>
          <a:p>
            <a:pPr indent="0" marL="0">
              <a:buNone/>
            </a:pPr>
            <a:r>
              <a:rPr lang="en-US" sz="1250" b="1" dirty="0">
                <a:solidFill>
                  <a:srgbClr val="26331F"/>
                </a:solidFill>
                <a:latin typeface="Apple SD Gothic Neo" pitchFamily="34" charset="0"/>
                <a:ea typeface="Apple SD Gothic Neo" pitchFamily="34" charset="-122"/>
                <a:cs typeface="Apple SD Gothic Neo" pitchFamily="34" charset="-120"/>
              </a:rPr>
              <a:t>reproduce() — 한 번만 구현</a:t>
            </a:r>
            <a:endParaRPr lang="en-US" sz="12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type(self)로 같은 종을 생성 — 토끼는 토끼를, 기린은 기린을. 자식마다 번식 코드가 필요 없다</a:t>
            </a:r>
            <a:endParaRPr lang="en-US" sz="1250" dirty="0"/>
          </a:p>
        </p:txBody>
      </p:sp>
      <p:sp>
        <p:nvSpPr>
          <p:cNvPr id="14" name="Shape 12"/>
          <p:cNvSpPr/>
          <p:nvPr/>
        </p:nvSpPr>
        <p:spPr>
          <a:xfrm>
            <a:off x="5897880" y="1097280"/>
            <a:ext cx="2834640" cy="2468880"/>
          </a:xfrm>
          <a:prstGeom prst="rect">
            <a:avLst/>
          </a:prstGeom>
          <a:solidFill>
            <a:srgbClr val="2C5F2D"/>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5" name="Text 13"/>
          <p:cNvSpPr/>
          <p:nvPr/>
        </p:nvSpPr>
        <p:spPr>
          <a:xfrm>
            <a:off x="6080760" y="1298448"/>
            <a:ext cx="2468880" cy="2148840"/>
          </a:xfrm>
          <a:prstGeom prst="rect">
            <a:avLst/>
          </a:prstGeom>
          <a:noFill/>
          <a:ln/>
        </p:spPr>
        <p:txBody>
          <a:bodyPr wrap="square" lIns="0" tIns="0" rIns="0" bIns="0" rtlCol="0" anchor="t"/>
          <a:lstStyle/>
          <a:p>
            <a:pPr indent="0" marL="0">
              <a:spcAft>
                <a:spcPts val="600"/>
              </a:spcAft>
              <a:buNone/>
            </a:pPr>
            <a:r>
              <a:rPr lang="en-US" sz="1400" b="1" dirty="0">
                <a:solidFill>
                  <a:srgbClr val="FFFFFF"/>
                </a:solidFill>
                <a:latin typeface="Apple SD Gothic Neo" pitchFamily="34" charset="0"/>
                <a:ea typeface="Apple SD Gothic Neo" pitchFamily="34" charset="-122"/>
                <a:cs typeface="Apple SD Gothic Neo" pitchFamily="34" charset="-120"/>
              </a:rPr>
              <a:t>🌳 번식터 분산 알고리즘</a:t>
            </a:r>
            <a:endParaRPr lang="en-US" sz="1400" dirty="0"/>
          </a:p>
          <a:p>
            <a:pPr indent="0" marL="0">
              <a:spcAft>
                <a:spcPts val="500"/>
              </a:spcAft>
              <a:buNone/>
            </a:pPr>
            <a:r>
              <a:rPr lang="en-US" sz="1050" dirty="0">
                <a:solidFill>
                  <a:srgbClr val="E8EFDC"/>
                </a:solidFill>
                <a:latin typeface="Apple SD Gothic Neo" pitchFamily="34" charset="0"/>
                <a:ea typeface="Apple SD Gothic Neo" pitchFamily="34" charset="-122"/>
                <a:cs typeface="Apple SD Gothic Neo" pitchFamily="34" charset="-120"/>
              </a:rPr>
              <a:t>문제: 모두가 가장 가까운 나무 한곳에 몰려 화면이 겹쳐 보였다.</a:t>
            </a:r>
            <a:endParaRPr lang="en-US" sz="1400" dirty="0"/>
          </a:p>
          <a:p>
            <a:pPr indent="0" marL="0">
              <a:buNone/>
            </a:pPr>
            <a:r>
              <a:rPr lang="en-US" sz="1050" dirty="0">
                <a:solidFill>
                  <a:srgbClr val="C9DBA3"/>
                </a:solidFill>
                <a:latin typeface="Apple SD Gothic Neo" pitchFamily="34" charset="0"/>
                <a:ea typeface="Apple SD Gothic Neo" pitchFamily="34" charset="-122"/>
                <a:cs typeface="Apple SD Gothic Neo" pitchFamily="34" charset="-120"/>
              </a:rPr>
              <a:t>해결: 덜 붐비는 나무를 고르고, 나무 중심이 아닌 '둘레의 자기 자리'(개체별 선호 각도)로 — 번식 조건은 유지하고 군집만 풀었다.</a:t>
            </a:r>
            <a:endParaRPr lang="en-US" sz="1400" dirty="0"/>
          </a:p>
        </p:txBody>
      </p:sp>
      <p:sp>
        <p:nvSpPr>
          <p:cNvPr id="16" name="Shape 14"/>
          <p:cNvSpPr/>
          <p:nvPr/>
        </p:nvSpPr>
        <p:spPr>
          <a:xfrm>
            <a:off x="5897880" y="3703320"/>
            <a:ext cx="2834640" cy="868680"/>
          </a:xfrm>
          <a:prstGeom prst="rect">
            <a:avLst/>
          </a:prstGeom>
          <a:solidFill>
            <a:srgbClr val="FFFFFF"/>
          </a:solidFill>
          <a:ln w="12700">
            <a:solidFill>
              <a:srgbClr val="DDE5D2"/>
            </a:solidFill>
            <a:prstDash val="solid"/>
          </a:ln>
          <a:effectLst>
            <a:outerShdw sx="100000" sy="100000" kx="0" ky="0" algn="bl" rotWithShape="0" blurRad="63500" dist="25400" dir="8100000">
              <a:srgbClr val="000000">
                <a:alpha val="12000"/>
              </a:srgbClr>
            </a:outerShdw>
          </a:effectLst>
        </p:spPr>
      </p:sp>
      <p:sp>
        <p:nvSpPr>
          <p:cNvPr id="17" name="Text 15"/>
          <p:cNvSpPr/>
          <p:nvPr/>
        </p:nvSpPr>
        <p:spPr>
          <a:xfrm>
            <a:off x="6080760" y="3803904"/>
            <a:ext cx="2514600" cy="685800"/>
          </a:xfrm>
          <a:prstGeom prst="rect">
            <a:avLst/>
          </a:prstGeom>
          <a:noFill/>
          <a:ln/>
        </p:spPr>
        <p:txBody>
          <a:bodyPr wrap="square" lIns="0" tIns="0" rIns="0" bIns="0" rtlCol="0" anchor="ctr"/>
          <a:lstStyle/>
          <a:p>
            <a:pPr indent="0" marL="0">
              <a:buNone/>
            </a:pPr>
            <a:r>
              <a:rPr lang="en-US" sz="1150" b="1" dirty="0">
                <a:solidFill>
                  <a:srgbClr val="26331F"/>
                </a:solidFill>
                <a:latin typeface="Apple SD Gothic Neo" pitchFamily="34" charset="0"/>
                <a:ea typeface="Apple SD Gothic Neo" pitchFamily="34" charset="-122"/>
                <a:cs typeface="Apple SD Gothic Neo" pitchFamily="34" charset="-120"/>
              </a:rPr>
              <a:t>Herbivore 공통 생존 흐름</a:t>
            </a:r>
            <a:endParaRPr lang="en-US" sz="1150" dirty="0"/>
          </a:p>
          <a:p>
            <a:pPr indent="0" marL="0">
              <a:buNone/>
            </a:pPr>
            <a:r>
              <a:rPr lang="en-US" sz="1000" dirty="0">
                <a:solidFill>
                  <a:srgbClr val="5C6B52"/>
                </a:solidFill>
                <a:latin typeface="Apple SD Gothic Neo" pitchFamily="34" charset="0"/>
                <a:ea typeface="Apple SD Gothic Neo" pitchFamily="34" charset="-122"/>
                <a:cs typeface="Apple SD Gothic Neo" pitchFamily="34" charset="-120"/>
              </a:rPr>
              <a:t>포식자가 가까우면 도망 → 배고프면 풀 → 준비되면 번식터로.</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0"/>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lIns="0" tIns="0" rIns="0" bIns="0" rtlCol="0" anchor="ctr"/>
          <a:lstStyle/>
          <a:p>
            <a:pPr indent="0" marL="0">
              <a:buNone/>
            </a:pPr>
            <a:r>
              <a:rPr lang="en-US" sz="2600" b="1" dirty="0">
                <a:solidFill>
                  <a:srgbClr val="1E3D1F"/>
                </a:solidFill>
                <a:latin typeface="Apple SD Gothic Neo" pitchFamily="34" charset="0"/>
                <a:ea typeface="Apple SD Gothic Neo" pitchFamily="34" charset="-122"/>
                <a:cs typeface="Apple SD Gothic Neo" pitchFamily="34" charset="-120"/>
              </a:rPr>
              <a:t>코드 시연 (2분)</a:t>
            </a:r>
            <a:endParaRPr lang="en-US" sz="2600" dirty="0"/>
          </a:p>
        </p:txBody>
      </p:sp>
      <p:sp>
        <p:nvSpPr>
          <p:cNvPr id="3" name="Text 1"/>
          <p:cNvSpPr/>
          <p:nvPr/>
        </p:nvSpPr>
        <p:spPr>
          <a:xfrm>
            <a:off x="457200" y="658368"/>
            <a:ext cx="8229600" cy="274320"/>
          </a:xfrm>
          <a:prstGeom prst="rect">
            <a:avLst/>
          </a:prstGeom>
          <a:noFill/>
          <a:ln/>
        </p:spPr>
        <p:txBody>
          <a:bodyPr wrap="square" lIns="0" tIns="0" rIns="0" bIns="0" rtlCol="0" anchor="ctr"/>
          <a:lstStyle/>
          <a:p>
            <a:pPr indent="0" marL="0">
              <a:buNone/>
            </a:pPr>
            <a:r>
              <a:rPr lang="en-US" sz="1200" dirty="0">
                <a:solidFill>
                  <a:srgbClr val="5C6B52"/>
                </a:solidFill>
                <a:latin typeface="Apple SD Gothic Neo" pitchFamily="34" charset="0"/>
                <a:ea typeface="Apple SD Gothic Neo" pitchFamily="34" charset="-122"/>
                <a:cs typeface="Apple SD Gothic Neo" pitchFamily="34" charset="-120"/>
              </a:rPr>
              <a:t>실행부터 종료까지 — 생태계의 모든 기능을 한 흐름으로</a:t>
            </a:r>
            <a:endParaRPr lang="en-US" sz="1200" dirty="0"/>
          </a:p>
        </p:txBody>
      </p:sp>
      <p:sp>
        <p:nvSpPr>
          <p:cNvPr id="4" name="Shape 2"/>
          <p:cNvSpPr/>
          <p:nvPr/>
        </p:nvSpPr>
        <p:spPr>
          <a:xfrm>
            <a:off x="548640" y="1152144"/>
            <a:ext cx="457200" cy="457200"/>
          </a:xfrm>
          <a:prstGeom prst="ellipse">
            <a:avLst/>
          </a:prstGeom>
          <a:solidFill>
            <a:srgbClr val="2C5F2D"/>
          </a:solidFill>
          <a:ln/>
        </p:spPr>
      </p:sp>
      <p:sp>
        <p:nvSpPr>
          <p:cNvPr id="5" name="Text 3"/>
          <p:cNvSpPr/>
          <p:nvPr/>
        </p:nvSpPr>
        <p:spPr>
          <a:xfrm>
            <a:off x="548640" y="11521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1</a:t>
            </a:r>
            <a:endParaRPr lang="en-US" sz="1400" dirty="0"/>
          </a:p>
        </p:txBody>
      </p:sp>
      <p:sp>
        <p:nvSpPr>
          <p:cNvPr id="6" name="Shape 4"/>
          <p:cNvSpPr/>
          <p:nvPr/>
        </p:nvSpPr>
        <p:spPr>
          <a:xfrm>
            <a:off x="777240" y="1609344"/>
            <a:ext cx="0" cy="164592"/>
          </a:xfrm>
          <a:prstGeom prst="line">
            <a:avLst/>
          </a:prstGeom>
          <a:noFill/>
          <a:ln w="19050">
            <a:solidFill>
              <a:srgbClr val="7A8F6A"/>
            </a:solidFill>
            <a:prstDash val="solid"/>
          </a:ln>
        </p:spPr>
      </p:sp>
      <p:sp>
        <p:nvSpPr>
          <p:cNvPr id="7" name="Text 5"/>
          <p:cNvSpPr/>
          <p:nvPr/>
        </p:nvSpPr>
        <p:spPr>
          <a:xfrm>
            <a:off x="1188720" y="1124712"/>
            <a:ext cx="7498080" cy="512064"/>
          </a:xfrm>
          <a:prstGeom prst="rect">
            <a:avLst/>
          </a:prstGeom>
          <a:noFill/>
          <a:ln/>
        </p:spPr>
        <p:txBody>
          <a:bodyPr wrap="square" lIns="0" tIns="0" rIns="0" bIns="0" rtlCol="0" anchor="ctr"/>
          <a:lstStyle/>
          <a:p>
            <a:pPr indent="0" marL="0">
              <a:buNone/>
            </a:pPr>
            <a:r>
              <a:rPr lang="en-US" sz="1300" b="1" dirty="0">
                <a:solidFill>
                  <a:srgbClr val="26331F"/>
                </a:solidFill>
                <a:latin typeface="Apple SD Gothic Neo" pitchFamily="34" charset="0"/>
                <a:ea typeface="Apple SD Gothic Neo" pitchFamily="34" charset="-122"/>
                <a:cs typeface="Apple SD Gothic Neo" pitchFamily="34" charset="-120"/>
              </a:rPr>
              <a:t>0:00  실행   </a:t>
            </a:r>
            <a:pPr indent="0" marL="0">
              <a:buNone/>
            </a:pPr>
            <a:r>
              <a:rPr lang="en-US" sz="1150" dirty="0">
                <a:solidFill>
                  <a:srgbClr val="5C6B52"/>
                </a:solidFill>
                <a:latin typeface="Apple SD Gothic Neo" pitchFamily="34" charset="0"/>
                <a:ea typeface="Apple SD Gothic Neo" pitchFamily="34" charset="-122"/>
                <a:cs typeface="Apple SD Gothic Neo" pitchFamily="34" charset="-120"/>
              </a:rPr>
              <a:t>python3 main.py — 설치 0개, 초원과 정보 패널 등장</a:t>
            </a:r>
            <a:endParaRPr lang="en-US" sz="1300" dirty="0"/>
          </a:p>
        </p:txBody>
      </p:sp>
      <p:sp>
        <p:nvSpPr>
          <p:cNvPr id="8" name="Shape 6"/>
          <p:cNvSpPr/>
          <p:nvPr/>
        </p:nvSpPr>
        <p:spPr>
          <a:xfrm>
            <a:off x="548640" y="1773936"/>
            <a:ext cx="457200" cy="457200"/>
          </a:xfrm>
          <a:prstGeom prst="ellipse">
            <a:avLst/>
          </a:prstGeom>
          <a:solidFill>
            <a:srgbClr val="2C5F2D"/>
          </a:solidFill>
          <a:ln/>
        </p:spPr>
      </p:sp>
      <p:sp>
        <p:nvSpPr>
          <p:cNvPr id="9" name="Text 7"/>
          <p:cNvSpPr/>
          <p:nvPr/>
        </p:nvSpPr>
        <p:spPr>
          <a:xfrm>
            <a:off x="548640" y="17739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2</a:t>
            </a:r>
            <a:endParaRPr lang="en-US" sz="1400" dirty="0"/>
          </a:p>
        </p:txBody>
      </p:sp>
      <p:sp>
        <p:nvSpPr>
          <p:cNvPr id="10" name="Shape 8"/>
          <p:cNvSpPr/>
          <p:nvPr/>
        </p:nvSpPr>
        <p:spPr>
          <a:xfrm>
            <a:off x="777240" y="2231136"/>
            <a:ext cx="0" cy="164592"/>
          </a:xfrm>
          <a:prstGeom prst="line">
            <a:avLst/>
          </a:prstGeom>
          <a:noFill/>
          <a:ln w="19050">
            <a:solidFill>
              <a:srgbClr val="7A8F6A"/>
            </a:solidFill>
            <a:prstDash val="solid"/>
          </a:ln>
        </p:spPr>
      </p:sp>
      <p:sp>
        <p:nvSpPr>
          <p:cNvPr id="11" name="Text 9"/>
          <p:cNvSpPr/>
          <p:nvPr/>
        </p:nvSpPr>
        <p:spPr>
          <a:xfrm>
            <a:off x="1188720" y="1746504"/>
            <a:ext cx="7498080" cy="512064"/>
          </a:xfrm>
          <a:prstGeom prst="rect">
            <a:avLst/>
          </a:prstGeom>
          <a:noFill/>
          <a:ln/>
        </p:spPr>
        <p:txBody>
          <a:bodyPr wrap="square" lIns="0" tIns="0" rIns="0" bIns="0" rtlCol="0" anchor="ctr"/>
          <a:lstStyle/>
          <a:p>
            <a:pPr indent="0" marL="0">
              <a:buNone/>
            </a:pPr>
            <a:r>
              <a:rPr lang="en-US" sz="1300" b="1" dirty="0">
                <a:solidFill>
                  <a:srgbClr val="26331F"/>
                </a:solidFill>
                <a:latin typeface="Apple SD Gothic Neo" pitchFamily="34" charset="0"/>
                <a:ea typeface="Apple SD Gothic Neo" pitchFamily="34" charset="-122"/>
                <a:cs typeface="Apple SD Gothic Neo" pitchFamily="34" charset="-120"/>
              </a:rPr>
              <a:t>0:15  생존   </a:t>
            </a:r>
            <a:pPr indent="0" marL="0">
              <a:buNone/>
            </a:pPr>
            <a:r>
              <a:rPr lang="en-US" sz="1150" dirty="0">
                <a:solidFill>
                  <a:srgbClr val="5C6B52"/>
                </a:solidFill>
                <a:latin typeface="Apple SD Gothic Neo" pitchFamily="34" charset="0"/>
                <a:ea typeface="Apple SD Gothic Neo" pitchFamily="34" charset="-122"/>
                <a:cs typeface="Apple SD Gothic Neo" pitchFamily="34" charset="-120"/>
              </a:rPr>
              <a:t>풀 먹기 · 사냥(포효·가속) · 가로채기 · 은신 · 교란 · 넥스윙 · 발구르기·나무 투척</a:t>
            </a:r>
            <a:endParaRPr lang="en-US" sz="1300" dirty="0"/>
          </a:p>
        </p:txBody>
      </p:sp>
      <p:sp>
        <p:nvSpPr>
          <p:cNvPr id="12" name="Shape 10"/>
          <p:cNvSpPr/>
          <p:nvPr/>
        </p:nvSpPr>
        <p:spPr>
          <a:xfrm>
            <a:off x="548640" y="2395728"/>
            <a:ext cx="457200" cy="457200"/>
          </a:xfrm>
          <a:prstGeom prst="ellipse">
            <a:avLst/>
          </a:prstGeom>
          <a:solidFill>
            <a:srgbClr val="2C5F2D"/>
          </a:solidFill>
          <a:ln/>
        </p:spPr>
      </p:sp>
      <p:sp>
        <p:nvSpPr>
          <p:cNvPr id="13" name="Text 11"/>
          <p:cNvSpPr/>
          <p:nvPr/>
        </p:nvSpPr>
        <p:spPr>
          <a:xfrm>
            <a:off x="548640" y="23957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14" name="Shape 12"/>
          <p:cNvSpPr/>
          <p:nvPr/>
        </p:nvSpPr>
        <p:spPr>
          <a:xfrm>
            <a:off x="777240" y="2852928"/>
            <a:ext cx="0" cy="164592"/>
          </a:xfrm>
          <a:prstGeom prst="line">
            <a:avLst/>
          </a:prstGeom>
          <a:noFill/>
          <a:ln w="19050">
            <a:solidFill>
              <a:srgbClr val="7A8F6A"/>
            </a:solidFill>
            <a:prstDash val="solid"/>
          </a:ln>
        </p:spPr>
      </p:sp>
      <p:sp>
        <p:nvSpPr>
          <p:cNvPr id="15" name="Text 13"/>
          <p:cNvSpPr/>
          <p:nvPr/>
        </p:nvSpPr>
        <p:spPr>
          <a:xfrm>
            <a:off x="1188720" y="2368296"/>
            <a:ext cx="7498080" cy="512064"/>
          </a:xfrm>
          <a:prstGeom prst="rect">
            <a:avLst/>
          </a:prstGeom>
          <a:noFill/>
          <a:ln/>
        </p:spPr>
        <p:txBody>
          <a:bodyPr wrap="square" lIns="0" tIns="0" rIns="0" bIns="0" rtlCol="0" anchor="ctr"/>
          <a:lstStyle/>
          <a:p>
            <a:pPr indent="0" marL="0">
              <a:buNone/>
            </a:pPr>
            <a:r>
              <a:rPr lang="en-US" sz="1300" b="1" dirty="0">
                <a:solidFill>
                  <a:srgbClr val="26331F"/>
                </a:solidFill>
                <a:latin typeface="Apple SD Gothic Neo" pitchFamily="34" charset="0"/>
                <a:ea typeface="Apple SD Gothic Neo" pitchFamily="34" charset="-122"/>
                <a:cs typeface="Apple SD Gothic Neo" pitchFamily="34" charset="-120"/>
              </a:rPr>
              <a:t>0:50  번식   </a:t>
            </a:r>
            <a:pPr indent="0" marL="0">
              <a:buNone/>
            </a:pPr>
            <a:r>
              <a:rPr lang="en-US" sz="1150" dirty="0">
                <a:solidFill>
                  <a:srgbClr val="5C6B52"/>
                </a:solidFill>
                <a:latin typeface="Apple SD Gothic Neo" pitchFamily="34" charset="0"/>
                <a:ea typeface="Apple SD Gothic Neo" pitchFamily="34" charset="-122"/>
                <a:cs typeface="Apple SD Gothic Neo" pitchFamily="34" charset="-120"/>
              </a:rPr>
              <a:t>나무 반경에 같은 종 2마리 → 새끼 탄생 → 가족 흩어짐 · 새 나무 재생</a:t>
            </a:r>
            <a:endParaRPr lang="en-US" sz="1300" dirty="0"/>
          </a:p>
        </p:txBody>
      </p:sp>
      <p:sp>
        <p:nvSpPr>
          <p:cNvPr id="16" name="Shape 14"/>
          <p:cNvSpPr/>
          <p:nvPr/>
        </p:nvSpPr>
        <p:spPr>
          <a:xfrm>
            <a:off x="548640" y="3017520"/>
            <a:ext cx="457200" cy="457200"/>
          </a:xfrm>
          <a:prstGeom prst="ellipse">
            <a:avLst/>
          </a:prstGeom>
          <a:solidFill>
            <a:srgbClr val="2C5F2D"/>
          </a:solidFill>
          <a:ln/>
        </p:spPr>
      </p:sp>
      <p:sp>
        <p:nvSpPr>
          <p:cNvPr id="17" name="Text 15"/>
          <p:cNvSpPr/>
          <p:nvPr/>
        </p:nvSpPr>
        <p:spPr>
          <a:xfrm>
            <a:off x="548640" y="3017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18" name="Shape 16"/>
          <p:cNvSpPr/>
          <p:nvPr/>
        </p:nvSpPr>
        <p:spPr>
          <a:xfrm>
            <a:off x="777240" y="3474720"/>
            <a:ext cx="0" cy="164592"/>
          </a:xfrm>
          <a:prstGeom prst="line">
            <a:avLst/>
          </a:prstGeom>
          <a:noFill/>
          <a:ln w="19050">
            <a:solidFill>
              <a:srgbClr val="7A8F6A"/>
            </a:solidFill>
            <a:prstDash val="solid"/>
          </a:ln>
        </p:spPr>
      </p:sp>
      <p:sp>
        <p:nvSpPr>
          <p:cNvPr id="19" name="Text 17"/>
          <p:cNvSpPr/>
          <p:nvPr/>
        </p:nvSpPr>
        <p:spPr>
          <a:xfrm>
            <a:off x="1188720" y="2990088"/>
            <a:ext cx="7498080" cy="512064"/>
          </a:xfrm>
          <a:prstGeom prst="rect">
            <a:avLst/>
          </a:prstGeom>
          <a:noFill/>
          <a:ln/>
        </p:spPr>
        <p:txBody>
          <a:bodyPr wrap="square" lIns="0" tIns="0" rIns="0" bIns="0" rtlCol="0" anchor="ctr"/>
          <a:lstStyle/>
          <a:p>
            <a:pPr indent="0" marL="0">
              <a:buNone/>
            </a:pPr>
            <a:r>
              <a:rPr lang="en-US" sz="1300" b="1" dirty="0">
                <a:solidFill>
                  <a:srgbClr val="26331F"/>
                </a:solidFill>
                <a:latin typeface="Apple SD Gothic Neo" pitchFamily="34" charset="0"/>
                <a:ea typeface="Apple SD Gothic Neo" pitchFamily="34" charset="-122"/>
                <a:cs typeface="Apple SD Gothic Neo" pitchFamily="34" charset="-120"/>
              </a:rPr>
              <a:t>1:10  조작   </a:t>
            </a:r>
            <a:pPr indent="0" marL="0">
              <a:buNone/>
            </a:pPr>
            <a:r>
              <a:rPr lang="en-US" sz="1150" dirty="0">
                <a:solidFill>
                  <a:srgbClr val="5C6B52"/>
                </a:solidFill>
                <a:latin typeface="Apple SD Gothic Neo" pitchFamily="34" charset="0"/>
                <a:ea typeface="Apple SD Gothic Neo" pitchFamily="34" charset="-122"/>
                <a:cs typeface="Apple SD Gothic Neo" pitchFamily="34" charset="-120"/>
              </a:rPr>
              <a:t>Space 일시정지/재개 · R 다시 시작</a:t>
            </a:r>
            <a:endParaRPr lang="en-US" sz="1300" dirty="0"/>
          </a:p>
        </p:txBody>
      </p:sp>
      <p:sp>
        <p:nvSpPr>
          <p:cNvPr id="20" name="Shape 18"/>
          <p:cNvSpPr/>
          <p:nvPr/>
        </p:nvSpPr>
        <p:spPr>
          <a:xfrm>
            <a:off x="548640" y="3639312"/>
            <a:ext cx="457200" cy="457200"/>
          </a:xfrm>
          <a:prstGeom prst="ellipse">
            <a:avLst/>
          </a:prstGeom>
          <a:solidFill>
            <a:srgbClr val="E07A2F"/>
          </a:solidFill>
          <a:ln/>
        </p:spPr>
      </p:sp>
      <p:sp>
        <p:nvSpPr>
          <p:cNvPr id="21" name="Text 19"/>
          <p:cNvSpPr/>
          <p:nvPr/>
        </p:nvSpPr>
        <p:spPr>
          <a:xfrm>
            <a:off x="548640" y="36393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5</a:t>
            </a:r>
            <a:endParaRPr lang="en-US" sz="1400" dirty="0"/>
          </a:p>
        </p:txBody>
      </p:sp>
      <p:sp>
        <p:nvSpPr>
          <p:cNvPr id="22" name="Shape 20"/>
          <p:cNvSpPr/>
          <p:nvPr/>
        </p:nvSpPr>
        <p:spPr>
          <a:xfrm>
            <a:off x="777240" y="4096512"/>
            <a:ext cx="0" cy="164592"/>
          </a:xfrm>
          <a:prstGeom prst="line">
            <a:avLst/>
          </a:prstGeom>
          <a:noFill/>
          <a:ln w="19050">
            <a:solidFill>
              <a:srgbClr val="7A8F6A"/>
            </a:solidFill>
            <a:prstDash val="solid"/>
          </a:ln>
        </p:spPr>
      </p:sp>
      <p:sp>
        <p:nvSpPr>
          <p:cNvPr id="23" name="Text 21"/>
          <p:cNvSpPr/>
          <p:nvPr/>
        </p:nvSpPr>
        <p:spPr>
          <a:xfrm>
            <a:off x="1188720" y="3611880"/>
            <a:ext cx="7498080" cy="512064"/>
          </a:xfrm>
          <a:prstGeom prst="rect">
            <a:avLst/>
          </a:prstGeom>
          <a:noFill/>
          <a:ln/>
        </p:spPr>
        <p:txBody>
          <a:bodyPr wrap="square" lIns="0" tIns="0" rIns="0" bIns="0" rtlCol="0" anchor="ctr"/>
          <a:lstStyle/>
          <a:p>
            <a:pPr indent="0" marL="0">
              <a:buNone/>
            </a:pPr>
            <a:r>
              <a:rPr lang="en-US" sz="1300" b="1" dirty="0">
                <a:solidFill>
                  <a:srgbClr val="26331F"/>
                </a:solidFill>
                <a:latin typeface="Apple SD Gothic Neo" pitchFamily="34" charset="0"/>
                <a:ea typeface="Apple SD Gothic Neo" pitchFamily="34" charset="-122"/>
                <a:cs typeface="Apple SD Gothic Neo" pitchFamily="34" charset="-120"/>
              </a:rPr>
              <a:t>1:25  재난   </a:t>
            </a:r>
            <a:pPr indent="0" marL="0">
              <a:buNone/>
            </a:pPr>
            <a:r>
              <a:rPr lang="en-US" sz="1150" dirty="0">
                <a:solidFill>
                  <a:srgbClr val="5C6B52"/>
                </a:solidFill>
                <a:latin typeface="Apple SD Gothic Neo" pitchFamily="34" charset="0"/>
                <a:ea typeface="Apple SD Gothic Neo" pitchFamily="34" charset="-122"/>
                <a:cs typeface="Apple SD Gothic Neo" pitchFamily="34" charset="-120"/>
              </a:rPr>
              <a:t>D → 트랙터 진격 → 초원 소멸 → 종료 화면</a:t>
            </a:r>
            <a:endParaRPr lang="en-US" sz="1300" dirty="0"/>
          </a:p>
        </p:txBody>
      </p:sp>
      <p:sp>
        <p:nvSpPr>
          <p:cNvPr id="24" name="Shape 22"/>
          <p:cNvSpPr/>
          <p:nvPr/>
        </p:nvSpPr>
        <p:spPr>
          <a:xfrm>
            <a:off x="548640" y="4261104"/>
            <a:ext cx="457200" cy="457200"/>
          </a:xfrm>
          <a:prstGeom prst="ellipse">
            <a:avLst/>
          </a:prstGeom>
          <a:solidFill>
            <a:srgbClr val="2C5F2D"/>
          </a:solidFill>
          <a:ln/>
        </p:spPr>
      </p:sp>
      <p:sp>
        <p:nvSpPr>
          <p:cNvPr id="25" name="Text 23"/>
          <p:cNvSpPr/>
          <p:nvPr/>
        </p:nvSpPr>
        <p:spPr>
          <a:xfrm>
            <a:off x="548640" y="42611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pple SD Gothic Neo" pitchFamily="34" charset="0"/>
                <a:ea typeface="Apple SD Gothic Neo" pitchFamily="34" charset="-122"/>
                <a:cs typeface="Apple SD Gothic Neo" pitchFamily="34" charset="-120"/>
              </a:rPr>
              <a:t>6</a:t>
            </a:r>
            <a:endParaRPr lang="en-US" sz="1400" dirty="0"/>
          </a:p>
        </p:txBody>
      </p:sp>
      <p:sp>
        <p:nvSpPr>
          <p:cNvPr id="26" name="Text 24"/>
          <p:cNvSpPr/>
          <p:nvPr/>
        </p:nvSpPr>
        <p:spPr>
          <a:xfrm>
            <a:off x="1188720" y="4233672"/>
            <a:ext cx="7498080" cy="512064"/>
          </a:xfrm>
          <a:prstGeom prst="rect">
            <a:avLst/>
          </a:prstGeom>
          <a:noFill/>
          <a:ln/>
        </p:spPr>
        <p:txBody>
          <a:bodyPr wrap="square" lIns="0" tIns="0" rIns="0" bIns="0" rtlCol="0" anchor="ctr"/>
          <a:lstStyle/>
          <a:p>
            <a:pPr indent="0" marL="0">
              <a:buNone/>
            </a:pPr>
            <a:r>
              <a:rPr lang="en-US" sz="1300" b="1" dirty="0">
                <a:solidFill>
                  <a:srgbClr val="26331F"/>
                </a:solidFill>
                <a:latin typeface="Apple SD Gothic Neo" pitchFamily="34" charset="0"/>
                <a:ea typeface="Apple SD Gothic Neo" pitchFamily="34" charset="-122"/>
                <a:cs typeface="Apple SD Gothic Neo" pitchFamily="34" charset="-120"/>
              </a:rPr>
              <a:t>1:50  종료   </a:t>
            </a:r>
            <a:pPr indent="0" marL="0">
              <a:buNone/>
            </a:pPr>
            <a:r>
              <a:rPr lang="en-US" sz="1150" dirty="0">
                <a:solidFill>
                  <a:srgbClr val="5C6B52"/>
                </a:solidFill>
                <a:latin typeface="Apple SD Gothic Neo" pitchFamily="34" charset="0"/>
                <a:ea typeface="Apple SD Gothic Neo" pitchFamily="34" charset="-122"/>
                <a:cs typeface="Apple SD Gothic Neo" pitchFamily="34" charset="-120"/>
              </a:rPr>
              <a:t>[R] 재시작 / [Q] 종료 확인 후 마무리</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3D1F"/>
        </a:solidFill>
      </p:bgPr>
    </p:bg>
    <p:spTree>
      <p:nvGrpSpPr>
        <p:cNvPr id="1" name=""/>
        <p:cNvGrpSpPr/>
        <p:nvPr/>
      </p:nvGrpSpPr>
      <p:grpSpPr>
        <a:xfrm>
          <a:off x="0" y="0"/>
          <a:ext cx="0" cy="0"/>
          <a:chOff x="0" y="0"/>
          <a:chExt cx="0" cy="0"/>
        </a:xfrm>
      </p:grpSpPr>
      <p:sp>
        <p:nvSpPr>
          <p:cNvPr id="2" name="Text 0"/>
          <p:cNvSpPr/>
          <p:nvPr/>
        </p:nvSpPr>
        <p:spPr>
          <a:xfrm>
            <a:off x="457200" y="502920"/>
            <a:ext cx="8229600" cy="548640"/>
          </a:xfrm>
          <a:prstGeom prst="rect">
            <a:avLst/>
          </a:prstGeom>
          <a:noFill/>
          <a:ln/>
        </p:spPr>
        <p:txBody>
          <a:bodyPr wrap="square" rtlCol="0" anchor="ctr"/>
          <a:lstStyle/>
          <a:p>
            <a:pPr algn="ctr" indent="0" marL="0">
              <a:buNone/>
            </a:pPr>
            <a:r>
              <a:rPr lang="en-US" sz="2800" b="1" dirty="0">
                <a:solidFill>
                  <a:srgbClr val="FFFFFF"/>
                </a:solidFill>
                <a:latin typeface="Apple SD Gothic Neo" pitchFamily="34" charset="0"/>
                <a:ea typeface="Apple SD Gothic Neo" pitchFamily="34" charset="-122"/>
                <a:cs typeface="Apple SD Gothic Neo" pitchFamily="34" charset="-120"/>
              </a:rPr>
              <a:t>우리가 배운 것</a:t>
            </a:r>
            <a:endParaRPr lang="en-US" sz="2800" dirty="0"/>
          </a:p>
        </p:txBody>
      </p:sp>
      <p:sp>
        <p:nvSpPr>
          <p:cNvPr id="3" name="Shape 1"/>
          <p:cNvSpPr/>
          <p:nvPr/>
        </p:nvSpPr>
        <p:spPr>
          <a:xfrm>
            <a:off x="502920" y="1371600"/>
            <a:ext cx="2651760" cy="2011680"/>
          </a:xfrm>
          <a:prstGeom prst="rect">
            <a:avLst/>
          </a:prstGeom>
          <a:solidFill>
            <a:srgbClr val="2C5F2D"/>
          </a:solidFill>
          <a:ln w="12700">
            <a:solidFill>
              <a:srgbClr val="97BC62"/>
            </a:solidFill>
            <a:prstDash val="solid"/>
          </a:ln>
        </p:spPr>
      </p:sp>
      <p:sp>
        <p:nvSpPr>
          <p:cNvPr id="4" name="Text 2"/>
          <p:cNvSpPr/>
          <p:nvPr/>
        </p:nvSpPr>
        <p:spPr>
          <a:xfrm>
            <a:off x="685800" y="1600200"/>
            <a:ext cx="2286000" cy="1645920"/>
          </a:xfrm>
          <a:prstGeom prst="rect">
            <a:avLst/>
          </a:prstGeom>
          <a:noFill/>
          <a:ln/>
        </p:spPr>
        <p:txBody>
          <a:bodyPr wrap="square" lIns="0" tIns="0" rIns="0" bIns="0" rtlCol="0" anchor="t"/>
          <a:lstStyle/>
          <a:p>
            <a:pPr indent="0" marL="0">
              <a:lnSpc>
                <a:spcPct val="110000"/>
              </a:lnSpc>
              <a:spcAft>
                <a:spcPts val="800"/>
              </a:spcAft>
              <a:buNone/>
            </a:pPr>
            <a:r>
              <a:rPr lang="en-US" sz="1450" b="1" dirty="0">
                <a:solidFill>
                  <a:srgbClr val="FFD54F"/>
                </a:solidFill>
                <a:latin typeface="Apple SD Gothic Neo" pitchFamily="34" charset="0"/>
                <a:ea typeface="Apple SD Gothic Neo" pitchFamily="34" charset="-122"/>
                <a:cs typeface="Apple SD Gothic Neo" pitchFamily="34" charset="-120"/>
              </a:rPr>
              <a:t>상속과 템플릿 메서드</a:t>
            </a:r>
            <a:endParaRPr lang="en-US" sz="1450" dirty="0"/>
          </a:p>
          <a:p>
            <a:pPr indent="0" marL="0">
              <a:lnSpc>
                <a:spcPct val="110000"/>
              </a:lnSpc>
              <a:buNone/>
            </a:pPr>
            <a:r>
              <a:rPr lang="en-US" sz="1150" dirty="0">
                <a:solidFill>
                  <a:srgbClr val="E8EFDC"/>
                </a:solidFill>
                <a:latin typeface="Apple SD Gothic Neo" pitchFamily="34" charset="0"/>
                <a:ea typeface="Apple SD Gothic Neo" pitchFamily="34" charset="-122"/>
                <a:cs typeface="Apple SD Gothic Neo" pitchFamily="34" charset="-120"/>
              </a:rPr>
              <a:t>공통은 부모가, 다름은 자식이.</a:t>
            </a:r>
            <a:endParaRPr lang="en-US" sz="1450" dirty="0"/>
          </a:p>
          <a:p>
            <a:pPr indent="0" marL="0">
              <a:lnSpc>
                <a:spcPct val="110000"/>
              </a:lnSpc>
              <a:buNone/>
            </a:pPr>
            <a:r>
              <a:rPr lang="en-US" sz="1150" dirty="0">
                <a:solidFill>
                  <a:srgbClr val="E8EFDC"/>
                </a:solidFill>
                <a:latin typeface="Apple SD Gothic Neo" pitchFamily="34" charset="0"/>
                <a:ea typeface="Apple SD Gothic Neo" pitchFamily="34" charset="-122"/>
                <a:cs typeface="Apple SD Gothic Neo" pitchFamily="34" charset="-120"/>
              </a:rPr>
              <a:t>8종의 동물이 act() 하나로 완성</a:t>
            </a:r>
            <a:endParaRPr lang="en-US" sz="1450" dirty="0"/>
          </a:p>
        </p:txBody>
      </p:sp>
      <p:sp>
        <p:nvSpPr>
          <p:cNvPr id="5" name="Shape 3"/>
          <p:cNvSpPr/>
          <p:nvPr/>
        </p:nvSpPr>
        <p:spPr>
          <a:xfrm>
            <a:off x="3337560" y="1371600"/>
            <a:ext cx="2651760" cy="2011680"/>
          </a:xfrm>
          <a:prstGeom prst="rect">
            <a:avLst/>
          </a:prstGeom>
          <a:solidFill>
            <a:srgbClr val="2C5F2D"/>
          </a:solidFill>
          <a:ln w="12700">
            <a:solidFill>
              <a:srgbClr val="97BC62"/>
            </a:solidFill>
            <a:prstDash val="solid"/>
          </a:ln>
        </p:spPr>
      </p:sp>
      <p:sp>
        <p:nvSpPr>
          <p:cNvPr id="6" name="Text 4"/>
          <p:cNvSpPr/>
          <p:nvPr/>
        </p:nvSpPr>
        <p:spPr>
          <a:xfrm>
            <a:off x="3520440" y="1600200"/>
            <a:ext cx="2286000" cy="1645920"/>
          </a:xfrm>
          <a:prstGeom prst="rect">
            <a:avLst/>
          </a:prstGeom>
          <a:noFill/>
          <a:ln/>
        </p:spPr>
        <p:txBody>
          <a:bodyPr wrap="square" lIns="0" tIns="0" rIns="0" bIns="0" rtlCol="0" anchor="t"/>
          <a:lstStyle/>
          <a:p>
            <a:pPr indent="0" marL="0">
              <a:lnSpc>
                <a:spcPct val="110000"/>
              </a:lnSpc>
              <a:spcAft>
                <a:spcPts val="800"/>
              </a:spcAft>
              <a:buNone/>
            </a:pPr>
            <a:r>
              <a:rPr lang="en-US" sz="1450" b="1" dirty="0">
                <a:solidFill>
                  <a:srgbClr val="FFD54F"/>
                </a:solidFill>
                <a:latin typeface="Apple SD Gothic Neo" pitchFamily="34" charset="0"/>
                <a:ea typeface="Apple SD Gothic Neo" pitchFamily="34" charset="-122"/>
                <a:cs typeface="Apple SD Gothic Neo" pitchFamily="34" charset="-120"/>
              </a:rPr>
              <a:t>인터페이스 먼저</a:t>
            </a:r>
            <a:endParaRPr lang="en-US" sz="1450" dirty="0"/>
          </a:p>
          <a:p>
            <a:pPr indent="0" marL="0">
              <a:lnSpc>
                <a:spcPct val="110000"/>
              </a:lnSpc>
              <a:buNone/>
            </a:pPr>
            <a:r>
              <a:rPr lang="en-US" sz="1150" dirty="0">
                <a:solidFill>
                  <a:srgbClr val="E8EFDC"/>
                </a:solidFill>
                <a:latin typeface="Apple SD Gothic Neo" pitchFamily="34" charset="0"/>
                <a:ea typeface="Apple SD Gothic Neo" pitchFamily="34" charset="-122"/>
                <a:cs typeface="Apple SD Gothic Neo" pitchFamily="34" charset="-120"/>
              </a:rPr>
              <a:t>이름을 먼저 고정하니</a:t>
            </a:r>
            <a:endParaRPr lang="en-US" sz="1450" dirty="0"/>
          </a:p>
          <a:p>
            <a:pPr indent="0" marL="0">
              <a:lnSpc>
                <a:spcPct val="110000"/>
              </a:lnSpc>
              <a:buNone/>
            </a:pPr>
            <a:r>
              <a:rPr lang="en-US" sz="1150" dirty="0">
                <a:solidFill>
                  <a:srgbClr val="E8EFDC"/>
                </a:solidFill>
                <a:latin typeface="Apple SD Gothic Neo" pitchFamily="34" charset="0"/>
                <a:ea typeface="Apple SD Gothic Neo" pitchFamily="34" charset="-122"/>
                <a:cs typeface="Apple SD Gothic Neo" pitchFamily="34" charset="-120"/>
              </a:rPr>
              <a:t>4명이 동시에 개발할 수 있었다</a:t>
            </a:r>
            <a:endParaRPr lang="en-US" sz="1450" dirty="0"/>
          </a:p>
        </p:txBody>
      </p:sp>
      <p:sp>
        <p:nvSpPr>
          <p:cNvPr id="7" name="Shape 5"/>
          <p:cNvSpPr/>
          <p:nvPr/>
        </p:nvSpPr>
        <p:spPr>
          <a:xfrm>
            <a:off x="6172200" y="1371600"/>
            <a:ext cx="2651760" cy="2011680"/>
          </a:xfrm>
          <a:prstGeom prst="rect">
            <a:avLst/>
          </a:prstGeom>
          <a:solidFill>
            <a:srgbClr val="2C5F2D"/>
          </a:solidFill>
          <a:ln w="12700">
            <a:solidFill>
              <a:srgbClr val="97BC62"/>
            </a:solidFill>
            <a:prstDash val="solid"/>
          </a:ln>
        </p:spPr>
      </p:sp>
      <p:sp>
        <p:nvSpPr>
          <p:cNvPr id="8" name="Text 6"/>
          <p:cNvSpPr/>
          <p:nvPr/>
        </p:nvSpPr>
        <p:spPr>
          <a:xfrm>
            <a:off x="6355080" y="1600200"/>
            <a:ext cx="2286000" cy="1645920"/>
          </a:xfrm>
          <a:prstGeom prst="rect">
            <a:avLst/>
          </a:prstGeom>
          <a:noFill/>
          <a:ln/>
        </p:spPr>
        <p:txBody>
          <a:bodyPr wrap="square" lIns="0" tIns="0" rIns="0" bIns="0" rtlCol="0" anchor="t"/>
          <a:lstStyle/>
          <a:p>
            <a:pPr indent="0" marL="0">
              <a:lnSpc>
                <a:spcPct val="110000"/>
              </a:lnSpc>
              <a:spcAft>
                <a:spcPts val="800"/>
              </a:spcAft>
              <a:buNone/>
            </a:pPr>
            <a:r>
              <a:rPr lang="en-US" sz="1450" b="1" dirty="0">
                <a:solidFill>
                  <a:srgbClr val="FFD54F"/>
                </a:solidFill>
                <a:latin typeface="Apple SD Gothic Neo" pitchFamily="34" charset="0"/>
                <a:ea typeface="Apple SD Gothic Neo" pitchFamily="34" charset="-122"/>
                <a:cs typeface="Apple SD Gothic Neo" pitchFamily="34" charset="-120"/>
              </a:rPr>
              <a:t>밸런스는 관찰에서</a:t>
            </a:r>
            <a:endParaRPr lang="en-US" sz="1450" dirty="0"/>
          </a:p>
          <a:p>
            <a:pPr indent="0" marL="0">
              <a:lnSpc>
                <a:spcPct val="110000"/>
              </a:lnSpc>
              <a:buNone/>
            </a:pPr>
            <a:r>
              <a:rPr lang="en-US" sz="1150" dirty="0">
                <a:solidFill>
                  <a:srgbClr val="E8EFDC"/>
                </a:solidFill>
                <a:latin typeface="Apple SD Gothic Neo" pitchFamily="34" charset="0"/>
                <a:ea typeface="Apple SD Gothic Neo" pitchFamily="34" charset="-122"/>
                <a:cs typeface="Apple SD Gothic Neo" pitchFamily="34" charset="-120"/>
              </a:rPr>
              <a:t>멸종·군집·기아 문제를</a:t>
            </a:r>
            <a:endParaRPr lang="en-US" sz="1450" dirty="0"/>
          </a:p>
          <a:p>
            <a:pPr indent="0" marL="0">
              <a:lnSpc>
                <a:spcPct val="110000"/>
              </a:lnSpc>
              <a:buNone/>
            </a:pPr>
            <a:r>
              <a:rPr lang="en-US" sz="1150" dirty="0">
                <a:solidFill>
                  <a:srgbClr val="E8EFDC"/>
                </a:solidFill>
                <a:latin typeface="Apple SD Gothic Neo" pitchFamily="34" charset="0"/>
                <a:ea typeface="Apple SD Gothic Neo" pitchFamily="34" charset="-122"/>
                <a:cs typeface="Apple SD Gothic Neo" pitchFamily="34" charset="-120"/>
              </a:rPr>
              <a:t>시뮬레이션을 보며 수치로 해결</a:t>
            </a:r>
            <a:endParaRPr lang="en-US" sz="1450" dirty="0"/>
          </a:p>
        </p:txBody>
      </p:sp>
      <p:sp>
        <p:nvSpPr>
          <p:cNvPr id="9" name="Text 7"/>
          <p:cNvSpPr/>
          <p:nvPr/>
        </p:nvSpPr>
        <p:spPr>
          <a:xfrm>
            <a:off x="457200" y="3931920"/>
            <a:ext cx="8229600" cy="502920"/>
          </a:xfrm>
          <a:prstGeom prst="rect">
            <a:avLst/>
          </a:prstGeom>
          <a:noFill/>
          <a:ln/>
        </p:spPr>
        <p:txBody>
          <a:bodyPr wrap="square" rtlCol="0" anchor="ctr"/>
          <a:lstStyle/>
          <a:p>
            <a:pPr algn="ctr" indent="0" marL="0">
              <a:buNone/>
            </a:pPr>
            <a:r>
              <a:rPr lang="en-US" sz="2200" b="1" dirty="0">
                <a:solidFill>
                  <a:srgbClr val="FFFFFF"/>
                </a:solidFill>
                <a:latin typeface="Apple SD Gothic Neo" pitchFamily="34" charset="0"/>
                <a:ea typeface="Apple SD Gothic Neo" pitchFamily="34" charset="-122"/>
                <a:cs typeface="Apple SD Gothic Neo" pitchFamily="34" charset="-120"/>
              </a:rPr>
              <a:t>감사합니다 — Q&amp;A</a:t>
            </a:r>
            <a:endParaRPr lang="en-US" sz="2200" dirty="0"/>
          </a:p>
        </p:txBody>
      </p:sp>
      <p:sp>
        <p:nvSpPr>
          <p:cNvPr id="10" name="Text 8"/>
          <p:cNvSpPr/>
          <p:nvPr/>
        </p:nvSpPr>
        <p:spPr>
          <a:xfrm>
            <a:off x="457200" y="4480560"/>
            <a:ext cx="8229600" cy="320040"/>
          </a:xfrm>
          <a:prstGeom prst="rect">
            <a:avLst/>
          </a:prstGeom>
          <a:noFill/>
          <a:ln/>
        </p:spPr>
        <p:txBody>
          <a:bodyPr wrap="square" rtlCol="0" anchor="ctr"/>
          <a:lstStyle/>
          <a:p>
            <a:pPr algn="ctr" indent="0" marL="0">
              <a:buNone/>
            </a:pPr>
            <a:r>
              <a:rPr lang="en-US" sz="1200" dirty="0">
                <a:solidFill>
                  <a:srgbClr val="9FB58B"/>
                </a:solidFill>
                <a:latin typeface="Apple SD Gothic Neo" pitchFamily="34" charset="0"/>
                <a:ea typeface="Apple SD Gothic Neo" pitchFamily="34" charset="-122"/>
                <a:cs typeface="Apple SD Gothic Neo" pitchFamily="34" charset="-120"/>
              </a:rPr>
              <a:t>네이처 빌더 · 홍순율 · 심성진 · 심준서 · 한시헌</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초원 생태계 시뮬레이션</dc:title>
  <dc:subject>PptxGenJS Presentation</dc:subject>
  <dc:creator>네이처 빌더</dc:creator>
  <cp:lastModifiedBy>네이처 빌더</cp:lastModifiedBy>
  <cp:revision>1</cp:revision>
  <dcterms:created xsi:type="dcterms:W3CDTF">2026-06-10T13:59:30Z</dcterms:created>
  <dcterms:modified xsi:type="dcterms:W3CDTF">2026-06-10T13:59:30Z</dcterms:modified>
</cp:coreProperties>
</file>